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8" r:id="rId12"/>
    <p:sldId id="267" r:id="rId13"/>
    <p:sldId id="269" r:id="rId14"/>
    <p:sldId id="270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81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B3283-ACF0-41C9-8A4C-84E1DEDA7AD2}" type="datetimeFigureOut">
              <a:rPr lang="en-IN" smtClean="0"/>
              <a:t>11-02-2025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781D5-56AD-407D-AAC6-31B5A85600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23221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B3283-ACF0-41C9-8A4C-84E1DEDA7AD2}" type="datetimeFigureOut">
              <a:rPr lang="en-IN" smtClean="0"/>
              <a:t>11-02-2025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781D5-56AD-407D-AAC6-31B5A85600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51617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B3283-ACF0-41C9-8A4C-84E1DEDA7AD2}" type="datetimeFigureOut">
              <a:rPr lang="en-IN" smtClean="0"/>
              <a:t>11-02-2025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781D5-56AD-407D-AAC6-31B5A85600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66711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B3283-ACF0-41C9-8A4C-84E1DEDA7AD2}" type="datetimeFigureOut">
              <a:rPr lang="en-IN" smtClean="0"/>
              <a:t>11-02-2025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781D5-56AD-407D-AAC6-31B5A85600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3652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B3283-ACF0-41C9-8A4C-84E1DEDA7AD2}" type="datetimeFigureOut">
              <a:rPr lang="en-IN" smtClean="0"/>
              <a:t>11-02-2025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781D5-56AD-407D-AAC6-31B5A85600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55220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B3283-ACF0-41C9-8A4C-84E1DEDA7AD2}" type="datetimeFigureOut">
              <a:rPr lang="en-IN" smtClean="0"/>
              <a:t>11-02-2025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781D5-56AD-407D-AAC6-31B5A85600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75195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B3283-ACF0-41C9-8A4C-84E1DEDA7AD2}" type="datetimeFigureOut">
              <a:rPr lang="en-IN" smtClean="0"/>
              <a:t>11-02-2025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781D5-56AD-407D-AAC6-31B5A85600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63391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B3283-ACF0-41C9-8A4C-84E1DEDA7AD2}" type="datetimeFigureOut">
              <a:rPr lang="en-IN" smtClean="0"/>
              <a:t>11-02-2025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781D5-56AD-407D-AAC6-31B5A85600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77944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B3283-ACF0-41C9-8A4C-84E1DEDA7AD2}" type="datetimeFigureOut">
              <a:rPr lang="en-IN" smtClean="0"/>
              <a:t>11-02-2025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781D5-56AD-407D-AAC6-31B5A85600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4601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B3283-ACF0-41C9-8A4C-84E1DEDA7AD2}" type="datetimeFigureOut">
              <a:rPr lang="en-IN" smtClean="0"/>
              <a:t>11-02-2025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781D5-56AD-407D-AAC6-31B5A85600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69659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B3283-ACF0-41C9-8A4C-84E1DEDA7AD2}" type="datetimeFigureOut">
              <a:rPr lang="en-IN" smtClean="0"/>
              <a:t>11-02-2025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781D5-56AD-407D-AAC6-31B5A85600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11901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B3283-ACF0-41C9-8A4C-84E1DEDA7AD2}" type="datetimeFigureOut">
              <a:rPr lang="en-IN" smtClean="0"/>
              <a:t>11-02-2025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781D5-56AD-407D-AAC6-31B5A8560050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840289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B3283-ACF0-41C9-8A4C-84E1DEDA7AD2}" type="datetimeFigureOut">
              <a:rPr lang="en-IN" smtClean="0"/>
              <a:t>11-02-2025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781D5-56AD-407D-AAC6-31B5A85600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39715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B3283-ACF0-41C9-8A4C-84E1DEDA7AD2}" type="datetimeFigureOut">
              <a:rPr lang="en-IN" smtClean="0"/>
              <a:t>11-02-2025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781D5-56AD-407D-AAC6-31B5A85600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330009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B3283-ACF0-41C9-8A4C-84E1DEDA7AD2}" type="datetimeFigureOut">
              <a:rPr lang="en-IN" smtClean="0"/>
              <a:t>11-02-2025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781D5-56AD-407D-AAC6-31B5A85600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07006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B3283-ACF0-41C9-8A4C-84E1DEDA7AD2}" type="datetimeFigureOut">
              <a:rPr lang="en-IN" smtClean="0"/>
              <a:t>11-02-2025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781D5-56AD-407D-AAC6-31B5A85600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876154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B3283-ACF0-41C9-8A4C-84E1DEDA7AD2}" type="datetimeFigureOut">
              <a:rPr lang="en-IN" smtClean="0"/>
              <a:t>11-02-2025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781D5-56AD-407D-AAC6-31B5A85600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28992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C96B3283-ACF0-41C9-8A4C-84E1DEDA7AD2}" type="datetimeFigureOut">
              <a:rPr lang="en-IN" smtClean="0"/>
              <a:t>11-02-2025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9781D5-56AD-407D-AAC6-31B5A85600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337774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80604-28EA-F7B0-0AA1-25E891AA0C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99403"/>
            <a:ext cx="12192000" cy="238760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5000" b="1" dirty="0">
                <a:solidFill>
                  <a:srgbClr val="FFC000"/>
                </a:solidFill>
              </a:rPr>
              <a:t>Exploratory Data Analysis (EDA) for Real Estate Pricing: Unveiling the Dynamics of House Valuation in a Dynamic Market</a:t>
            </a:r>
            <a:endParaRPr lang="en-IN" sz="5000" b="1" dirty="0">
              <a:solidFill>
                <a:srgbClr val="FFC000"/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62E294B-A096-0C76-3D22-E2272543247F}"/>
              </a:ext>
            </a:extLst>
          </p:cNvPr>
          <p:cNvSpPr txBox="1">
            <a:spLocks/>
          </p:cNvSpPr>
          <p:nvPr/>
        </p:nvSpPr>
        <p:spPr>
          <a:xfrm>
            <a:off x="467360" y="2235200"/>
            <a:ext cx="12192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endParaRPr lang="en-US" sz="5000" b="1" dirty="0">
              <a:solidFill>
                <a:srgbClr val="FFC000"/>
              </a:solidFill>
            </a:endParaRPr>
          </a:p>
          <a:p>
            <a:pPr algn="ctr"/>
            <a:r>
              <a:rPr lang="en-US" sz="5000" b="1" dirty="0">
                <a:solidFill>
                  <a:srgbClr val="FFC000"/>
                </a:solidFill>
              </a:rPr>
              <a:t>Created by :- Omkar V. </a:t>
            </a:r>
            <a:r>
              <a:rPr lang="en-US" sz="5000" b="1" dirty="0" err="1">
                <a:solidFill>
                  <a:srgbClr val="FFC000"/>
                </a:solidFill>
              </a:rPr>
              <a:t>Gosavi</a:t>
            </a:r>
            <a:endParaRPr lang="en-IN" sz="5000" b="1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18081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23E65-0259-9134-CD0B-0990C3DB9E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C000"/>
                </a:solidFill>
              </a:rPr>
              <a:t>								</a:t>
            </a:r>
            <a:r>
              <a:rPr lang="en-US" sz="5000" b="1" dirty="0">
                <a:solidFill>
                  <a:srgbClr val="FFC000"/>
                </a:solidFill>
              </a:rPr>
              <a:t>Index</a:t>
            </a:r>
            <a:endParaRPr lang="en-IN" sz="5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670968-AF07-796F-0CB7-8C11FCE231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707" y="2052918"/>
            <a:ext cx="11373293" cy="4195481"/>
          </a:xfrm>
        </p:spPr>
        <p:txBody>
          <a:bodyPr>
            <a:normAutofit/>
          </a:bodyPr>
          <a:lstStyle/>
          <a:p>
            <a:r>
              <a:rPr lang="en-IN" sz="2500" b="1" dirty="0">
                <a:solidFill>
                  <a:schemeClr val="accent2"/>
                </a:solidFill>
              </a:rPr>
              <a:t>1. Loading the Data: </a:t>
            </a:r>
          </a:p>
          <a:p>
            <a:r>
              <a:rPr lang="en-IN" sz="2500" b="1" dirty="0">
                <a:solidFill>
                  <a:schemeClr val="accent2"/>
                </a:solidFill>
              </a:rPr>
              <a:t>2. Cleaning the Data:</a:t>
            </a:r>
          </a:p>
          <a:p>
            <a:r>
              <a:rPr lang="en-IN" sz="2500" b="1" dirty="0">
                <a:solidFill>
                  <a:schemeClr val="accent2"/>
                </a:solidFill>
              </a:rPr>
              <a:t>3. Univariate Analysis:</a:t>
            </a:r>
          </a:p>
          <a:p>
            <a:r>
              <a:rPr lang="en-IN" sz="2500" b="1" dirty="0">
                <a:solidFill>
                  <a:schemeClr val="accent2"/>
                </a:solidFill>
              </a:rPr>
              <a:t>4. Multivariate Analysis:</a:t>
            </a:r>
          </a:p>
          <a:p>
            <a:r>
              <a:rPr lang="en-IN" sz="2500" b="1" dirty="0">
                <a:solidFill>
                  <a:schemeClr val="accent2"/>
                </a:solidFill>
              </a:rPr>
              <a:t>5. Feature Engineering: </a:t>
            </a:r>
          </a:p>
          <a:p>
            <a:r>
              <a:rPr lang="en-US" sz="2500" b="1" dirty="0">
                <a:solidFill>
                  <a:schemeClr val="accent2"/>
                </a:solidFill>
              </a:rPr>
              <a:t>6. Feature Engineering and Size Impact: </a:t>
            </a:r>
            <a:endParaRPr lang="en-IN" sz="2500" b="1" dirty="0">
              <a:solidFill>
                <a:schemeClr val="accent2"/>
              </a:solidFill>
            </a:endParaRPr>
          </a:p>
          <a:p>
            <a:r>
              <a:rPr lang="en-US" sz="2500" b="1" dirty="0">
                <a:solidFill>
                  <a:schemeClr val="accent2"/>
                </a:solidFill>
              </a:rPr>
              <a:t>7. Market Trends and Historical Pricing:</a:t>
            </a:r>
            <a:endParaRPr lang="en-IN" sz="2500" b="1" dirty="0">
              <a:solidFill>
                <a:schemeClr val="accent2"/>
              </a:solidFill>
            </a:endParaRPr>
          </a:p>
          <a:p>
            <a:r>
              <a:rPr lang="en-US" sz="2500" b="1" dirty="0">
                <a:solidFill>
                  <a:schemeClr val="accent2"/>
                </a:solidFill>
              </a:rPr>
              <a:t>8. Customer Preferences and Amenities: </a:t>
            </a:r>
            <a:endParaRPr lang="en-IN" sz="2500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80066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8605E8-9F77-7DF4-8969-0B316097E3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40043-2126-9C07-609E-A1CC84C8CB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11545889" cy="1400530"/>
          </a:xfrm>
        </p:spPr>
        <p:txBody>
          <a:bodyPr/>
          <a:lstStyle/>
          <a:p>
            <a:r>
              <a:rPr lang="en-US" b="1" dirty="0">
                <a:solidFill>
                  <a:srgbClr val="FFC000"/>
                </a:solidFill>
              </a:rPr>
              <a:t>					1) </a:t>
            </a:r>
            <a:r>
              <a:rPr lang="en-IN" sz="5400" b="1" dirty="0">
                <a:solidFill>
                  <a:srgbClr val="FFC000"/>
                </a:solidFill>
              </a:rPr>
              <a:t>Loading the Data: </a:t>
            </a:r>
            <a:br>
              <a:rPr lang="en-IN" sz="5400" b="1" dirty="0">
                <a:solidFill>
                  <a:schemeClr val="accent2"/>
                </a:solidFill>
              </a:rPr>
            </a:br>
            <a:endParaRPr lang="en-IN" sz="5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70F653-99F4-9A77-FF2A-92FF159763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2052918"/>
            <a:ext cx="12192000" cy="48050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bg2">
                    <a:lumMod val="20000"/>
                    <a:lumOff val="80000"/>
                  </a:schemeClr>
                </a:solidFill>
              </a:rPr>
              <a:t>Load the dataset provided in a CSV or Excel format into a Pandas </a:t>
            </a:r>
            <a:r>
              <a:rPr lang="en-US" sz="2400" b="1" dirty="0" err="1">
                <a:solidFill>
                  <a:schemeClr val="bg2">
                    <a:lumMod val="20000"/>
                    <a:lumOff val="80000"/>
                  </a:schemeClr>
                </a:solidFill>
              </a:rPr>
              <a:t>DataFrame</a:t>
            </a:r>
            <a:r>
              <a:rPr lang="en-US" sz="2400" b="1" dirty="0">
                <a:solidFill>
                  <a:schemeClr val="bg2">
                    <a:lumMod val="20000"/>
                    <a:lumOff val="80000"/>
                  </a:schemeClr>
                </a:solidFill>
              </a:rPr>
              <a:t> to facilitate easy manipulation and analysis.</a:t>
            </a:r>
          </a:p>
          <a:p>
            <a:pPr marL="0" indent="0">
              <a:buNone/>
            </a:pPr>
            <a:endParaRPr lang="en-US" sz="2400" b="1" dirty="0">
              <a:solidFill>
                <a:schemeClr val="bg2">
                  <a:lumMod val="20000"/>
                  <a:lumOff val="80000"/>
                </a:schemeClr>
              </a:solidFill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chemeClr val="bg2">
                    <a:lumMod val="20000"/>
                    <a:lumOff val="80000"/>
                  </a:schemeClr>
                </a:solidFill>
              </a:rPr>
              <a:t>Step 1) import pandas as pd.</a:t>
            </a:r>
          </a:p>
          <a:p>
            <a:pPr marL="0" indent="0">
              <a:buNone/>
            </a:pPr>
            <a:endParaRPr lang="en-US" sz="2400" b="1" dirty="0">
              <a:solidFill>
                <a:schemeClr val="bg2">
                  <a:lumMod val="20000"/>
                  <a:lumOff val="80000"/>
                </a:schemeClr>
              </a:solidFill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chemeClr val="bg2">
                    <a:lumMod val="20000"/>
                    <a:lumOff val="80000"/>
                  </a:schemeClr>
                </a:solidFill>
              </a:rPr>
              <a:t>Step 2) Upload the CSV file by following path:- </a:t>
            </a:r>
          </a:p>
          <a:p>
            <a:pPr marL="0" indent="0">
              <a:buNone/>
            </a:pPr>
            <a:r>
              <a:rPr lang="en-US" sz="2400" b="1" dirty="0" err="1">
                <a:solidFill>
                  <a:schemeClr val="bg2">
                    <a:lumMod val="20000"/>
                    <a:lumOff val="80000"/>
                  </a:schemeClr>
                </a:solidFill>
              </a:rPr>
              <a:t>df</a:t>
            </a:r>
            <a:r>
              <a:rPr lang="en-US" sz="2400" b="1" dirty="0">
                <a:solidFill>
                  <a:schemeClr val="bg2">
                    <a:lumMod val="20000"/>
                    <a:lumOff val="80000"/>
                  </a:schemeClr>
                </a:solidFill>
              </a:rPr>
              <a:t> = </a:t>
            </a:r>
            <a:r>
              <a:rPr lang="en-US" sz="2400" b="1" dirty="0" err="1">
                <a:solidFill>
                  <a:schemeClr val="bg2">
                    <a:lumMod val="20000"/>
                    <a:lumOff val="80000"/>
                  </a:schemeClr>
                </a:solidFill>
              </a:rPr>
              <a:t>pd.read_csv</a:t>
            </a:r>
            <a:r>
              <a:rPr lang="en-US" sz="2400" b="1" dirty="0">
                <a:solidFill>
                  <a:schemeClr val="bg2">
                    <a:lumMod val="20000"/>
                    <a:lumOff val="80000"/>
                  </a:schemeClr>
                </a:solidFill>
              </a:rPr>
              <a:t>(</a:t>
            </a:r>
            <a:r>
              <a:rPr lang="en-US" sz="2400" b="1" dirty="0" err="1">
                <a:solidFill>
                  <a:schemeClr val="bg2">
                    <a:lumMod val="20000"/>
                    <a:lumOff val="80000"/>
                  </a:schemeClr>
                </a:solidFill>
              </a:rPr>
              <a:t>r'C</a:t>
            </a:r>
            <a:r>
              <a:rPr lang="en-US" sz="2400" b="1" dirty="0">
                <a:solidFill>
                  <a:schemeClr val="bg2">
                    <a:lumMod val="20000"/>
                    <a:lumOff val="80000"/>
                  </a:schemeClr>
                </a:solidFill>
              </a:rPr>
              <a:t>:\Users\HP\Desktop\Project 3\housing_data.csv’)</a:t>
            </a:r>
          </a:p>
          <a:p>
            <a:pPr marL="0" indent="0">
              <a:buNone/>
            </a:pPr>
            <a:endParaRPr lang="en-US" sz="2400" b="1" dirty="0">
              <a:solidFill>
                <a:schemeClr val="bg2">
                  <a:lumMod val="20000"/>
                  <a:lumOff val="80000"/>
                </a:schemeClr>
              </a:solidFill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chemeClr val="bg2">
                    <a:lumMod val="20000"/>
                    <a:lumOff val="80000"/>
                  </a:schemeClr>
                </a:solidFill>
              </a:rPr>
              <a:t>Step 3) For manipulation and analysis - print(</a:t>
            </a:r>
            <a:r>
              <a:rPr lang="en-US" sz="2400" b="1" dirty="0" err="1">
                <a:solidFill>
                  <a:schemeClr val="bg2">
                    <a:lumMod val="20000"/>
                    <a:lumOff val="80000"/>
                  </a:schemeClr>
                </a:solidFill>
              </a:rPr>
              <a:t>df.head</a:t>
            </a:r>
            <a:r>
              <a:rPr lang="en-US" sz="2400" b="1" dirty="0">
                <a:solidFill>
                  <a:schemeClr val="bg2">
                    <a:lumMod val="20000"/>
                    <a:lumOff val="80000"/>
                  </a:schemeClr>
                </a:solidFill>
              </a:rPr>
              <a:t>())</a:t>
            </a:r>
          </a:p>
          <a:p>
            <a:pPr marL="0" indent="0">
              <a:buNone/>
            </a:pPr>
            <a:endParaRPr lang="en-US" sz="2400" b="1" dirty="0">
              <a:solidFill>
                <a:schemeClr val="accent2"/>
              </a:solidFill>
            </a:endParaRPr>
          </a:p>
          <a:p>
            <a:pPr marL="0" indent="0">
              <a:buNone/>
            </a:pPr>
            <a:endParaRPr lang="en-IN" sz="2500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36519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38D96E-9B5E-D608-3CEE-D848DEE7CF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EBBAF-74B1-C6BC-9936-80E055A0EF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11545889" cy="1400530"/>
          </a:xfrm>
        </p:spPr>
        <p:txBody>
          <a:bodyPr/>
          <a:lstStyle/>
          <a:p>
            <a:r>
              <a:rPr lang="en-US" b="1" dirty="0">
                <a:solidFill>
                  <a:srgbClr val="FFC000"/>
                </a:solidFill>
              </a:rPr>
              <a:t>					</a:t>
            </a:r>
            <a:r>
              <a:rPr lang="en-IN" b="1" dirty="0">
                <a:solidFill>
                  <a:srgbClr val="FFC000"/>
                </a:solidFill>
              </a:rPr>
              <a:t>2. Cleaning the Data:</a:t>
            </a:r>
            <a:br>
              <a:rPr lang="en-IN" sz="5400" b="1" dirty="0">
                <a:solidFill>
                  <a:schemeClr val="accent2"/>
                </a:solidFill>
              </a:rPr>
            </a:br>
            <a:br>
              <a:rPr lang="en-IN" sz="5400" b="1" dirty="0">
                <a:solidFill>
                  <a:schemeClr val="accent2"/>
                </a:solidFill>
              </a:rPr>
            </a:br>
            <a:endParaRPr lang="en-IN" sz="5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D520E-4A3B-A470-0FFE-6C247DA4B2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2052918"/>
            <a:ext cx="12192000" cy="48050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bg2">
                    <a:lumMod val="20000"/>
                    <a:lumOff val="80000"/>
                  </a:schemeClr>
                </a:solidFill>
              </a:rPr>
              <a:t>Ensure data quality by eliminating missing values, removing duplicate entries, and addressing any anomalies or inconsistencies in the dataset. </a:t>
            </a:r>
          </a:p>
          <a:p>
            <a:pPr marL="0" indent="0">
              <a:buNone/>
            </a:pPr>
            <a:endParaRPr lang="en-US" sz="2400" b="1" dirty="0">
              <a:solidFill>
                <a:schemeClr val="bg2">
                  <a:lumMod val="20000"/>
                  <a:lumOff val="80000"/>
                </a:schemeClr>
              </a:solidFill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chemeClr val="bg2">
                    <a:lumMod val="20000"/>
                    <a:lumOff val="80000"/>
                  </a:schemeClr>
                </a:solidFill>
              </a:rPr>
              <a:t>Step 1) import pandas as pd.</a:t>
            </a:r>
          </a:p>
          <a:p>
            <a:pPr marL="0" indent="0">
              <a:buNone/>
            </a:pPr>
            <a:endParaRPr lang="en-US" sz="2400" b="1" dirty="0">
              <a:solidFill>
                <a:schemeClr val="bg2">
                  <a:lumMod val="20000"/>
                  <a:lumOff val="80000"/>
                </a:schemeClr>
              </a:solidFill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chemeClr val="bg2">
                    <a:lumMod val="20000"/>
                    <a:lumOff val="80000"/>
                  </a:schemeClr>
                </a:solidFill>
              </a:rPr>
              <a:t>Step 2) Check for missing values - print(</a:t>
            </a:r>
            <a:r>
              <a:rPr lang="en-US" sz="2400" b="1" dirty="0" err="1">
                <a:solidFill>
                  <a:schemeClr val="bg2">
                    <a:lumMod val="20000"/>
                    <a:lumOff val="80000"/>
                  </a:schemeClr>
                </a:solidFill>
              </a:rPr>
              <a:t>df.isnull</a:t>
            </a:r>
            <a:r>
              <a:rPr lang="en-US" sz="2400" b="1" dirty="0">
                <a:solidFill>
                  <a:schemeClr val="bg2">
                    <a:lumMod val="20000"/>
                    <a:lumOff val="80000"/>
                  </a:schemeClr>
                </a:solidFill>
              </a:rPr>
              <a:t>().sum())</a:t>
            </a:r>
          </a:p>
          <a:p>
            <a:pPr marL="0" indent="0">
              <a:buNone/>
            </a:pPr>
            <a:endParaRPr lang="en-US" sz="2400" b="1" dirty="0">
              <a:solidFill>
                <a:schemeClr val="bg2">
                  <a:lumMod val="20000"/>
                  <a:lumOff val="80000"/>
                </a:schemeClr>
              </a:solidFill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chemeClr val="bg2">
                    <a:lumMod val="20000"/>
                    <a:lumOff val="80000"/>
                  </a:schemeClr>
                </a:solidFill>
              </a:rPr>
              <a:t>Step 3) Check for duplicates - print(</a:t>
            </a:r>
            <a:r>
              <a:rPr lang="en-US" sz="2400" b="1" dirty="0" err="1">
                <a:solidFill>
                  <a:schemeClr val="bg2">
                    <a:lumMod val="20000"/>
                    <a:lumOff val="80000"/>
                  </a:schemeClr>
                </a:solidFill>
              </a:rPr>
              <a:t>df_cleaned.duplicated</a:t>
            </a:r>
            <a:r>
              <a:rPr lang="en-US" sz="2400" b="1" dirty="0">
                <a:solidFill>
                  <a:schemeClr val="bg2">
                    <a:lumMod val="20000"/>
                    <a:lumOff val="80000"/>
                  </a:schemeClr>
                </a:solidFill>
              </a:rPr>
              <a:t>().sum())</a:t>
            </a:r>
          </a:p>
          <a:p>
            <a:pPr marL="0" indent="0">
              <a:buNone/>
            </a:pPr>
            <a:endParaRPr lang="en-US" sz="2400" b="1" dirty="0">
              <a:solidFill>
                <a:schemeClr val="bg2">
                  <a:lumMod val="20000"/>
                  <a:lumOff val="80000"/>
                </a:schemeClr>
              </a:solidFill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chemeClr val="bg2">
                    <a:lumMod val="20000"/>
                    <a:lumOff val="80000"/>
                  </a:schemeClr>
                </a:solidFill>
              </a:rPr>
              <a:t>Step 4) finding anomalies - </a:t>
            </a:r>
            <a:r>
              <a:rPr lang="en-US" sz="2400" b="1" dirty="0" err="1">
                <a:solidFill>
                  <a:schemeClr val="bg2">
                    <a:lumMod val="20000"/>
                    <a:lumOff val="80000"/>
                  </a:schemeClr>
                </a:solidFill>
              </a:rPr>
              <a:t>df</a:t>
            </a:r>
            <a:r>
              <a:rPr lang="en-US" sz="2400" b="1" dirty="0">
                <a:solidFill>
                  <a:schemeClr val="bg2">
                    <a:lumMod val="20000"/>
                    <a:lumOff val="80000"/>
                  </a:schemeClr>
                </a:solidFill>
              </a:rPr>
              <a:t>['</a:t>
            </a:r>
            <a:r>
              <a:rPr lang="en-US" sz="2400" b="1" dirty="0" err="1">
                <a:solidFill>
                  <a:schemeClr val="bg2">
                    <a:lumMod val="20000"/>
                    <a:lumOff val="80000"/>
                  </a:schemeClr>
                </a:solidFill>
              </a:rPr>
              <a:t>LotArea</a:t>
            </a:r>
            <a:r>
              <a:rPr lang="en-US" sz="2400" b="1" dirty="0">
                <a:solidFill>
                  <a:schemeClr val="bg2">
                    <a:lumMod val="20000"/>
                    <a:lumOff val="80000"/>
                  </a:schemeClr>
                </a:solidFill>
              </a:rPr>
              <a:t>'].quantile(0.25) / (0.50) / (0.75) / (1.0)</a:t>
            </a:r>
          </a:p>
          <a:p>
            <a:pPr marL="0" indent="0">
              <a:buNone/>
            </a:pPr>
            <a:endParaRPr lang="en-US" sz="2400" b="1" dirty="0">
              <a:solidFill>
                <a:schemeClr val="accent2"/>
              </a:solidFill>
            </a:endParaRPr>
          </a:p>
          <a:p>
            <a:pPr marL="0" indent="0">
              <a:buNone/>
            </a:pPr>
            <a:endParaRPr lang="en-IN" sz="2500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17725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55CAAE-3A32-0D20-9F80-D54EEBB06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807EC-0134-4332-5E0B-4E53F89115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11545889" cy="1400530"/>
          </a:xfrm>
        </p:spPr>
        <p:txBody>
          <a:bodyPr/>
          <a:lstStyle/>
          <a:p>
            <a:r>
              <a:rPr lang="en-US" b="1" dirty="0">
                <a:solidFill>
                  <a:srgbClr val="FFC000"/>
                </a:solidFill>
              </a:rPr>
              <a:t>					</a:t>
            </a:r>
            <a:r>
              <a:rPr lang="en-IN" b="1" dirty="0">
                <a:solidFill>
                  <a:srgbClr val="FFC000"/>
                </a:solidFill>
              </a:rPr>
              <a:t>3. Univariate Analysis:</a:t>
            </a:r>
            <a:br>
              <a:rPr lang="en-IN" sz="5400" b="1" dirty="0">
                <a:solidFill>
                  <a:schemeClr val="accent2"/>
                </a:solidFill>
              </a:rPr>
            </a:br>
            <a:br>
              <a:rPr lang="en-IN" sz="5400" b="1" dirty="0">
                <a:solidFill>
                  <a:schemeClr val="accent2"/>
                </a:solidFill>
              </a:rPr>
            </a:br>
            <a:endParaRPr lang="en-IN" sz="5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393F48-DDB1-538A-566E-5079077334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2052918"/>
            <a:ext cx="12192000" cy="48050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bg2">
                    <a:lumMod val="20000"/>
                    <a:lumOff val="80000"/>
                  </a:schemeClr>
                </a:solidFill>
              </a:rPr>
              <a:t>Conduct a univariate analysis to understand the distribution of key variables like house prices. Utilize histograms, kernel density plots, or other visualizations to gain insights into the data. </a:t>
            </a:r>
          </a:p>
          <a:p>
            <a:pPr marL="0" indent="0">
              <a:buNone/>
            </a:pPr>
            <a:endParaRPr lang="en-US" sz="2400" b="1" dirty="0">
              <a:solidFill>
                <a:schemeClr val="bg2">
                  <a:lumMod val="20000"/>
                  <a:lumOff val="80000"/>
                </a:schemeClr>
              </a:solidFill>
            </a:endParaRPr>
          </a:p>
          <a:p>
            <a:pPr marL="0" indent="0">
              <a:buNone/>
            </a:pPr>
            <a:endParaRPr lang="en-US" sz="2400" b="1" dirty="0">
              <a:solidFill>
                <a:schemeClr val="bg2">
                  <a:lumMod val="20000"/>
                  <a:lumOff val="80000"/>
                </a:schemeClr>
              </a:solidFill>
            </a:endParaRPr>
          </a:p>
          <a:p>
            <a:pPr marL="0" indent="0">
              <a:buNone/>
            </a:pPr>
            <a:endParaRPr lang="en-US" sz="2400" b="1" dirty="0">
              <a:solidFill>
                <a:schemeClr val="bg2">
                  <a:lumMod val="20000"/>
                  <a:lumOff val="80000"/>
                </a:schemeClr>
              </a:solidFill>
            </a:endParaRPr>
          </a:p>
          <a:p>
            <a:pPr marL="0" indent="0">
              <a:buNone/>
            </a:pPr>
            <a:endParaRPr lang="en-US" sz="2400" b="1" dirty="0">
              <a:solidFill>
                <a:schemeClr val="bg2">
                  <a:lumMod val="20000"/>
                  <a:lumOff val="80000"/>
                </a:schemeClr>
              </a:solidFill>
            </a:endParaRPr>
          </a:p>
          <a:p>
            <a:pPr marL="0" indent="0">
              <a:buNone/>
            </a:pPr>
            <a:endParaRPr lang="en-US" sz="2400" b="1" dirty="0">
              <a:solidFill>
                <a:schemeClr val="bg2">
                  <a:lumMod val="20000"/>
                  <a:lumOff val="80000"/>
                </a:schemeClr>
              </a:solidFill>
            </a:endParaRPr>
          </a:p>
          <a:p>
            <a:pPr marL="0" indent="0">
              <a:buNone/>
            </a:pPr>
            <a:endParaRPr lang="en-US" sz="2400" b="1" dirty="0">
              <a:solidFill>
                <a:schemeClr val="bg2">
                  <a:lumMod val="20000"/>
                  <a:lumOff val="80000"/>
                </a:schemeClr>
              </a:solidFill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chemeClr val="bg2">
                    <a:lumMod val="20000"/>
                    <a:lumOff val="80000"/>
                  </a:schemeClr>
                </a:solidFill>
              </a:rPr>
              <a:t>				Scatterplot                        							</a:t>
            </a:r>
            <a:r>
              <a:rPr lang="en-US" sz="2400" b="1" dirty="0" err="1">
                <a:solidFill>
                  <a:schemeClr val="bg2">
                    <a:lumMod val="20000"/>
                    <a:lumOff val="80000"/>
                  </a:schemeClr>
                </a:solidFill>
              </a:rPr>
              <a:t>Distplot</a:t>
            </a:r>
            <a:endParaRPr lang="en-US" sz="2400" b="1" dirty="0">
              <a:solidFill>
                <a:schemeClr val="bg2">
                  <a:lumMod val="20000"/>
                  <a:lumOff val="80000"/>
                </a:schemeClr>
              </a:solidFill>
            </a:endParaRPr>
          </a:p>
          <a:p>
            <a:pPr marL="0" indent="0">
              <a:buNone/>
            </a:pPr>
            <a:endParaRPr lang="en-US" sz="2400" b="1" dirty="0">
              <a:solidFill>
                <a:schemeClr val="bg2">
                  <a:lumMod val="20000"/>
                  <a:lumOff val="80000"/>
                </a:schemeClr>
              </a:solidFill>
            </a:endParaRPr>
          </a:p>
          <a:p>
            <a:pPr marL="0" indent="0">
              <a:buNone/>
            </a:pPr>
            <a:endParaRPr lang="en-US" sz="2400" b="1" dirty="0">
              <a:solidFill>
                <a:schemeClr val="bg2">
                  <a:lumMod val="20000"/>
                  <a:lumOff val="80000"/>
                </a:schemeClr>
              </a:solidFill>
            </a:endParaRPr>
          </a:p>
          <a:p>
            <a:pPr marL="0" indent="0">
              <a:buNone/>
            </a:pPr>
            <a:endParaRPr lang="en-US" sz="2400" b="1" dirty="0">
              <a:solidFill>
                <a:schemeClr val="bg2">
                  <a:lumMod val="20000"/>
                  <a:lumOff val="80000"/>
                </a:schemeClr>
              </a:solidFill>
            </a:endParaRPr>
          </a:p>
          <a:p>
            <a:pPr marL="0" indent="0">
              <a:buNone/>
            </a:pPr>
            <a:endParaRPr lang="en-US" sz="2400" b="1" dirty="0">
              <a:solidFill>
                <a:schemeClr val="bg2">
                  <a:lumMod val="20000"/>
                  <a:lumOff val="80000"/>
                </a:schemeClr>
              </a:solidFill>
            </a:endParaRPr>
          </a:p>
          <a:p>
            <a:pPr marL="0" indent="0">
              <a:buNone/>
            </a:pPr>
            <a:endParaRPr lang="en-US" sz="2400" b="1" dirty="0">
              <a:solidFill>
                <a:schemeClr val="accent2"/>
              </a:solidFill>
            </a:endParaRPr>
          </a:p>
          <a:p>
            <a:pPr marL="0" indent="0">
              <a:buNone/>
            </a:pPr>
            <a:endParaRPr lang="en-IN" sz="2500" b="1" dirty="0">
              <a:solidFill>
                <a:schemeClr val="accent2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6CEC24-59C1-FEF2-6DD4-38C16501A7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860" y="3429000"/>
            <a:ext cx="5475767" cy="247207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604304-7411-F47F-0E47-079FC45F3A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1" y="3429000"/>
            <a:ext cx="5684874" cy="2472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36842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E4BAC9-1AC1-97F8-A73D-C68FBDC233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4C35E-E341-7B16-6611-528756615E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11545889" cy="1400530"/>
          </a:xfrm>
        </p:spPr>
        <p:txBody>
          <a:bodyPr/>
          <a:lstStyle/>
          <a:p>
            <a:r>
              <a:rPr lang="en-US" b="1" dirty="0">
                <a:solidFill>
                  <a:srgbClr val="FFC000"/>
                </a:solidFill>
              </a:rPr>
              <a:t>					</a:t>
            </a:r>
            <a:r>
              <a:rPr lang="en-IN" b="1" dirty="0">
                <a:solidFill>
                  <a:srgbClr val="FFC000"/>
                </a:solidFill>
              </a:rPr>
              <a:t>3. Univariate Analysis:</a:t>
            </a:r>
            <a:br>
              <a:rPr lang="en-IN" sz="5400" b="1" dirty="0">
                <a:solidFill>
                  <a:schemeClr val="accent2"/>
                </a:solidFill>
              </a:rPr>
            </a:br>
            <a:br>
              <a:rPr lang="en-IN" sz="5400" b="1" dirty="0">
                <a:solidFill>
                  <a:schemeClr val="accent2"/>
                </a:solidFill>
              </a:rPr>
            </a:br>
            <a:br>
              <a:rPr lang="en-IN" sz="5400" b="1" dirty="0">
                <a:solidFill>
                  <a:schemeClr val="accent2"/>
                </a:solidFill>
              </a:rPr>
            </a:br>
            <a:br>
              <a:rPr lang="en-IN" sz="5400" b="1" dirty="0">
                <a:solidFill>
                  <a:schemeClr val="accent2"/>
                </a:solidFill>
              </a:rPr>
            </a:br>
            <a:br>
              <a:rPr lang="en-IN" sz="5400" b="1" dirty="0">
                <a:solidFill>
                  <a:schemeClr val="accent2"/>
                </a:solidFill>
              </a:rPr>
            </a:br>
            <a:br>
              <a:rPr lang="en-IN" sz="5400" b="1" dirty="0">
                <a:solidFill>
                  <a:schemeClr val="accent2"/>
                </a:solidFill>
              </a:rPr>
            </a:br>
            <a:r>
              <a:rPr lang="en-IN" sz="5400" b="1" dirty="0">
                <a:solidFill>
                  <a:schemeClr val="accent2"/>
                </a:solidFill>
              </a:rPr>
              <a:t>			</a:t>
            </a:r>
            <a:r>
              <a:rPr lang="en-IN" sz="3000" b="1" dirty="0">
                <a:solidFill>
                  <a:schemeClr val="bg2">
                    <a:lumMod val="20000"/>
                    <a:lumOff val="80000"/>
                  </a:schemeClr>
                </a:solidFill>
              </a:rPr>
              <a:t>Box plot  											Hist plot</a:t>
            </a:r>
            <a:endParaRPr lang="en-IN" sz="5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EECA3-7594-7666-5128-0FC9E84604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2052918"/>
            <a:ext cx="12192000" cy="480508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400" b="1" dirty="0">
              <a:solidFill>
                <a:schemeClr val="bg2">
                  <a:lumMod val="20000"/>
                  <a:lumOff val="80000"/>
                </a:schemeClr>
              </a:solidFill>
            </a:endParaRPr>
          </a:p>
          <a:p>
            <a:pPr marL="0" indent="0">
              <a:buNone/>
            </a:pPr>
            <a:endParaRPr lang="en-US" sz="2400" b="1" dirty="0">
              <a:solidFill>
                <a:schemeClr val="bg2">
                  <a:lumMod val="20000"/>
                  <a:lumOff val="80000"/>
                </a:schemeClr>
              </a:solidFill>
            </a:endParaRPr>
          </a:p>
          <a:p>
            <a:pPr marL="0" indent="0">
              <a:buNone/>
            </a:pPr>
            <a:endParaRPr lang="en-US" sz="2400" b="1" dirty="0">
              <a:solidFill>
                <a:schemeClr val="bg2">
                  <a:lumMod val="20000"/>
                  <a:lumOff val="80000"/>
                </a:schemeClr>
              </a:solidFill>
            </a:endParaRPr>
          </a:p>
          <a:p>
            <a:pPr marL="0" indent="0">
              <a:buNone/>
            </a:pPr>
            <a:endParaRPr lang="en-US" sz="2400" b="1" dirty="0">
              <a:solidFill>
                <a:schemeClr val="accent2"/>
              </a:solidFill>
            </a:endParaRPr>
          </a:p>
          <a:p>
            <a:pPr marL="0" indent="0">
              <a:buNone/>
            </a:pPr>
            <a:endParaRPr lang="en-IN" sz="2500" b="1" dirty="0">
              <a:solidFill>
                <a:schemeClr val="accent2"/>
              </a:solidFill>
            </a:endParaRPr>
          </a:p>
          <a:p>
            <a:pPr marL="0" indent="0">
              <a:buNone/>
            </a:pPr>
            <a:endParaRPr lang="en-IN" sz="2500" b="1" dirty="0">
              <a:solidFill>
                <a:schemeClr val="accent2"/>
              </a:solidFill>
            </a:endParaRPr>
          </a:p>
          <a:p>
            <a:pPr marL="0" indent="0">
              <a:buNone/>
            </a:pPr>
            <a:endParaRPr lang="en-IN" sz="2500" b="1" dirty="0">
              <a:solidFill>
                <a:schemeClr val="accent2"/>
              </a:solidFill>
            </a:endParaRPr>
          </a:p>
          <a:p>
            <a:pPr marL="0" indent="0">
              <a:buNone/>
            </a:pPr>
            <a:endParaRPr lang="en-IN" sz="2500" b="1" dirty="0">
              <a:solidFill>
                <a:schemeClr val="accent2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CA4A45C-400F-B5E9-93D7-ECED1B27B5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767" y="2052918"/>
            <a:ext cx="5562038" cy="324807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1FB7FAD-FC90-A7CF-60D1-A4AA01F5AD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3340" y="2052919"/>
            <a:ext cx="5787655" cy="3248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92044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4A8746-8F0A-6CE8-808C-8F4091F2F5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586A5-E9D4-014E-3309-B0FCD37A16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11545889" cy="1400530"/>
          </a:xfrm>
        </p:spPr>
        <p:txBody>
          <a:bodyPr/>
          <a:lstStyle/>
          <a:p>
            <a:r>
              <a:rPr lang="en-US" b="1" dirty="0">
                <a:solidFill>
                  <a:srgbClr val="FFC000"/>
                </a:solidFill>
              </a:rPr>
              <a:t>					</a:t>
            </a:r>
            <a:r>
              <a:rPr lang="en-IN" b="1" dirty="0">
                <a:solidFill>
                  <a:srgbClr val="FFC000"/>
                </a:solidFill>
              </a:rPr>
              <a:t>4. Multivariate Analysis:</a:t>
            </a:r>
            <a:br>
              <a:rPr lang="en-IN" sz="5400" b="1" dirty="0">
                <a:solidFill>
                  <a:schemeClr val="accent2"/>
                </a:solidFill>
              </a:rPr>
            </a:br>
            <a:br>
              <a:rPr lang="en-IN" sz="5400" b="1" dirty="0">
                <a:solidFill>
                  <a:schemeClr val="accent2"/>
                </a:solidFill>
              </a:rPr>
            </a:br>
            <a:br>
              <a:rPr lang="en-IN" sz="5400" b="1" dirty="0">
                <a:solidFill>
                  <a:schemeClr val="accent2"/>
                </a:solidFill>
              </a:rPr>
            </a:br>
            <a:br>
              <a:rPr lang="en-IN" sz="5400" b="1" dirty="0">
                <a:solidFill>
                  <a:schemeClr val="accent2"/>
                </a:solidFill>
              </a:rPr>
            </a:br>
            <a:br>
              <a:rPr lang="en-IN" sz="5400" b="1" dirty="0">
                <a:solidFill>
                  <a:schemeClr val="accent2"/>
                </a:solidFill>
              </a:rPr>
            </a:br>
            <a:br>
              <a:rPr lang="en-IN" sz="5400" b="1" dirty="0">
                <a:solidFill>
                  <a:schemeClr val="accent2"/>
                </a:solidFill>
              </a:rPr>
            </a:br>
            <a:br>
              <a:rPr lang="en-IN" sz="5400" b="1" dirty="0">
                <a:solidFill>
                  <a:schemeClr val="accent2"/>
                </a:solidFill>
              </a:rPr>
            </a:br>
            <a:r>
              <a:rPr lang="en-IN" sz="5400" b="1" dirty="0">
                <a:solidFill>
                  <a:schemeClr val="accent2"/>
                </a:solidFill>
              </a:rPr>
              <a:t>			</a:t>
            </a:r>
            <a:endParaRPr lang="en-IN" sz="5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B4F46-4432-5307-98CC-5264998262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2052917"/>
            <a:ext cx="12192000" cy="4709389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2700" b="1" dirty="0"/>
              <a:t>Perform multivariate analysis to understand the correlations and dependencies between various features. Utilize techniques like correlation matrices or scatterplot matrices for a comprehensive view.</a:t>
            </a:r>
          </a:p>
          <a:p>
            <a:pPr marL="0" indent="0">
              <a:buNone/>
            </a:pPr>
            <a:endParaRPr lang="en-US" b="1" dirty="0">
              <a:solidFill>
                <a:schemeClr val="bg2">
                  <a:lumMod val="20000"/>
                  <a:lumOff val="80000"/>
                </a:schemeClr>
              </a:solidFill>
            </a:endParaRPr>
          </a:p>
          <a:p>
            <a:pPr marL="0" indent="0">
              <a:buNone/>
            </a:pPr>
            <a:r>
              <a:rPr lang="en-US" sz="2400" b="1" i="0" dirty="0">
                <a:effectLst/>
                <a:latin typeface="system-ui"/>
              </a:rPr>
              <a:t>Multivariate analysis can help uncover relationships and dependencies between multiple features in a dataset. Here, I'll demonstrate how to use correlation matrices and scatterplot matrices to perform this analysis using pandas, matplotlib, and seaborn.</a:t>
            </a:r>
          </a:p>
          <a:p>
            <a:pPr marL="0" indent="0">
              <a:buNone/>
            </a:pPr>
            <a:endParaRPr lang="en-US" sz="2400" b="1" dirty="0">
              <a:solidFill>
                <a:schemeClr val="bg2">
                  <a:lumMod val="20000"/>
                  <a:lumOff val="80000"/>
                </a:schemeClr>
              </a:solidFill>
            </a:endParaRPr>
          </a:p>
          <a:p>
            <a:pPr marL="0" indent="0">
              <a:buNone/>
            </a:pPr>
            <a:r>
              <a:rPr lang="en-US" sz="2400" b="1" i="0" dirty="0">
                <a:effectLst/>
                <a:latin typeface="system-ui"/>
              </a:rPr>
              <a:t>Correlation Matrix - A correlation matrix shows the correlation coefficients between variables. It helps identify the strength and direction of relationships.</a:t>
            </a:r>
          </a:p>
          <a:p>
            <a:pPr marL="0" indent="0">
              <a:buNone/>
            </a:pPr>
            <a:endParaRPr lang="en-US" sz="2400" b="1" i="0" dirty="0">
              <a:effectLst/>
              <a:latin typeface="system-ui"/>
            </a:endParaRPr>
          </a:p>
          <a:p>
            <a:pPr marL="0" indent="0">
              <a:buNone/>
            </a:pPr>
            <a:r>
              <a:rPr lang="en-US" sz="2400" b="1" i="0" dirty="0" err="1">
                <a:effectLst/>
                <a:latin typeface="system-ui"/>
              </a:rPr>
              <a:t>sns.pairplot</a:t>
            </a:r>
            <a:r>
              <a:rPr lang="en-US" sz="2400" b="1" i="0" dirty="0">
                <a:effectLst/>
                <a:latin typeface="system-ui"/>
              </a:rPr>
              <a:t>(data)</a:t>
            </a:r>
          </a:p>
          <a:p>
            <a:pPr marL="0" indent="0">
              <a:buNone/>
            </a:pPr>
            <a:r>
              <a:rPr lang="en-US" sz="2400" b="1" i="0" dirty="0" err="1">
                <a:effectLst/>
                <a:latin typeface="system-ui"/>
              </a:rPr>
              <a:t>plt.suptitle</a:t>
            </a:r>
            <a:r>
              <a:rPr lang="en-US" sz="2400" b="1" i="0" dirty="0">
                <a:effectLst/>
                <a:latin typeface="system-ui"/>
              </a:rPr>
              <a:t>('Pair Plot of House Prices Dataset', y=1.02)</a:t>
            </a:r>
          </a:p>
          <a:p>
            <a:pPr marL="0" indent="0">
              <a:buNone/>
            </a:pPr>
            <a:r>
              <a:rPr lang="en-US" sz="2400" b="1" i="0" dirty="0" err="1">
                <a:effectLst/>
                <a:latin typeface="system-ui"/>
              </a:rPr>
              <a:t>plt.show</a:t>
            </a:r>
            <a:r>
              <a:rPr lang="en-US" sz="2400" b="1" i="0" dirty="0">
                <a:effectLst/>
                <a:latin typeface="system-ui"/>
              </a:rPr>
              <a:t>()</a:t>
            </a:r>
          </a:p>
          <a:p>
            <a:pPr marL="0" indent="0">
              <a:buNone/>
            </a:pPr>
            <a:endParaRPr lang="en-US" sz="2400" b="1" dirty="0">
              <a:solidFill>
                <a:schemeClr val="bg2">
                  <a:lumMod val="20000"/>
                  <a:lumOff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88087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105F04-5CAD-26AF-781C-F6930C6BC0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043992-4C7D-7EC0-D3F6-386EDF0794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055" y="0"/>
            <a:ext cx="11545889" cy="918882"/>
          </a:xfrm>
        </p:spPr>
        <p:txBody>
          <a:bodyPr/>
          <a:lstStyle/>
          <a:p>
            <a:r>
              <a:rPr lang="en-US" b="1" dirty="0">
                <a:solidFill>
                  <a:srgbClr val="FFC000"/>
                </a:solidFill>
              </a:rPr>
              <a:t>					</a:t>
            </a:r>
            <a:r>
              <a:rPr lang="en-IN" b="1" dirty="0">
                <a:solidFill>
                  <a:srgbClr val="FFC000"/>
                </a:solidFill>
              </a:rPr>
              <a:t>5. Feature Engineering:</a:t>
            </a:r>
            <a:br>
              <a:rPr lang="en-IN" sz="2400" b="1" i="0" dirty="0">
                <a:effectLst/>
                <a:latin typeface="system-ui"/>
              </a:rPr>
            </a:br>
            <a:br>
              <a:rPr lang="en-IN" sz="5400" b="1" dirty="0">
                <a:solidFill>
                  <a:schemeClr val="accent2"/>
                </a:solidFill>
              </a:rPr>
            </a:br>
            <a:br>
              <a:rPr lang="en-IN" sz="5400" b="1" dirty="0">
                <a:solidFill>
                  <a:schemeClr val="accent2"/>
                </a:solidFill>
              </a:rPr>
            </a:br>
            <a:br>
              <a:rPr lang="en-IN" sz="5400" b="1" dirty="0">
                <a:solidFill>
                  <a:schemeClr val="accent2"/>
                </a:solidFill>
              </a:rPr>
            </a:br>
            <a:br>
              <a:rPr lang="en-IN" sz="5400" b="1" dirty="0">
                <a:solidFill>
                  <a:schemeClr val="accent2"/>
                </a:solidFill>
              </a:rPr>
            </a:br>
            <a:br>
              <a:rPr lang="en-IN" sz="5400" b="1" dirty="0">
                <a:solidFill>
                  <a:schemeClr val="accent2"/>
                </a:solidFill>
              </a:rPr>
            </a:br>
            <a:br>
              <a:rPr lang="en-IN" sz="5400" b="1" dirty="0">
                <a:solidFill>
                  <a:schemeClr val="accent2"/>
                </a:solidFill>
              </a:rPr>
            </a:br>
            <a:br>
              <a:rPr lang="en-IN" sz="5400" b="1" dirty="0">
                <a:solidFill>
                  <a:schemeClr val="accent2"/>
                </a:solidFill>
              </a:rPr>
            </a:br>
            <a:r>
              <a:rPr lang="en-IN" sz="5400" b="1" dirty="0">
                <a:solidFill>
                  <a:schemeClr val="accent2"/>
                </a:solidFill>
              </a:rPr>
              <a:t>			</a:t>
            </a:r>
            <a:endParaRPr lang="en-IN" sz="5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B72ADF-8211-30EF-62BF-0EE9F7BE5B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918882"/>
            <a:ext cx="12192000" cy="5843425"/>
          </a:xfrm>
        </p:spPr>
        <p:txBody>
          <a:bodyPr>
            <a:normAutofit fontScale="55000" lnSpcReduction="20000"/>
          </a:bodyPr>
          <a:lstStyle/>
          <a:p>
            <a:pPr marL="0" indent="0" algn="l">
              <a:buNone/>
            </a:pPr>
            <a:r>
              <a:rPr lang="en-US" sz="3600" b="1" i="0" dirty="0">
                <a:effectLst/>
                <a:latin typeface="system-ui"/>
              </a:rPr>
              <a:t>Introduce new variables that might enhance the model's ability to predict house prices. For instance, calculate the price per square foot or engineer a feature representing the property's age.</a:t>
            </a:r>
          </a:p>
          <a:p>
            <a:pPr marL="0" indent="0">
              <a:buNone/>
            </a:pPr>
            <a:endParaRPr lang="en-US" b="1" dirty="0">
              <a:solidFill>
                <a:schemeClr val="bg2">
                  <a:lumMod val="20000"/>
                  <a:lumOff val="80000"/>
                </a:schemeClr>
              </a:solidFill>
            </a:endParaRPr>
          </a:p>
          <a:p>
            <a:pPr algn="l"/>
            <a:r>
              <a:rPr lang="en-US" sz="2400" b="0" i="0" dirty="0">
                <a:effectLst/>
                <a:latin typeface="system-ui"/>
              </a:rPr>
              <a:t>Price per Square Foot: Calculate the price per square foot to standardize pricing across different property sizes.</a:t>
            </a:r>
          </a:p>
          <a:p>
            <a:pPr algn="l"/>
            <a:r>
              <a:rPr lang="en-US" sz="2400" b="0" i="0" dirty="0">
                <a:effectLst/>
                <a:latin typeface="system-ui"/>
              </a:rPr>
              <a:t>Property Age: Engineer a feature that represents the age of the property, which can impact value due to wear and tear or historical significance.</a:t>
            </a:r>
          </a:p>
          <a:p>
            <a:pPr algn="l"/>
            <a:r>
              <a:rPr lang="en-US" sz="2400" b="0" i="0" dirty="0">
                <a:effectLst/>
                <a:latin typeface="system-ui"/>
              </a:rPr>
              <a:t>Renovation History: Include information on the last renovation date and the extent of renovations to account for property condition improvements.</a:t>
            </a:r>
          </a:p>
          <a:p>
            <a:pPr algn="l"/>
            <a:r>
              <a:rPr lang="en-US" sz="2400" b="0" i="0" dirty="0">
                <a:effectLst/>
                <a:latin typeface="system-ui"/>
              </a:rPr>
              <a:t>Number of Bathrooms and Bedrooms: Add features representing the number of bathrooms and bedrooms, as these directly influence property desirability.</a:t>
            </a:r>
          </a:p>
          <a:p>
            <a:pPr algn="l"/>
            <a:r>
              <a:rPr lang="en-US" sz="2400" b="0" i="0" dirty="0">
                <a:effectLst/>
                <a:latin typeface="system-ui"/>
              </a:rPr>
              <a:t>Neighborhood Quality Index: Create an index based on factors like crime rate, school quality, and access to amenities.</a:t>
            </a:r>
          </a:p>
          <a:p>
            <a:pPr algn="l"/>
            <a:r>
              <a:rPr lang="en-US" sz="2400" b="0" i="0" dirty="0">
                <a:effectLst/>
                <a:latin typeface="system-ui"/>
              </a:rPr>
              <a:t>Distance to City Center: Measure the distance to the nearest city center or business district, as proximity often affects property value.</a:t>
            </a:r>
          </a:p>
          <a:p>
            <a:pPr algn="l"/>
            <a:r>
              <a:rPr lang="en-US" sz="2400" b="0" i="0" dirty="0">
                <a:effectLst/>
                <a:latin typeface="system-ui"/>
              </a:rPr>
              <a:t>Public Transport Access: Include data on the availability and proximity of public transportation options.</a:t>
            </a:r>
          </a:p>
          <a:p>
            <a:pPr algn="l"/>
            <a:r>
              <a:rPr lang="en-US" sz="2400" b="0" i="0" dirty="0">
                <a:effectLst/>
                <a:latin typeface="system-ui"/>
              </a:rPr>
              <a:t>View Quality: If available, incorporate a feature for the quality of the view from the property (e.g., ocean view, park view).</a:t>
            </a:r>
          </a:p>
          <a:p>
            <a:pPr algn="l"/>
            <a:r>
              <a:rPr lang="en-US" sz="2400" b="0" i="0" dirty="0">
                <a:effectLst/>
                <a:latin typeface="system-ui"/>
              </a:rPr>
              <a:t>Lot Size: Measure the size of the lot in square feet or acres to capture the impact of additional land.</a:t>
            </a:r>
          </a:p>
          <a:p>
            <a:pPr algn="l"/>
            <a:r>
              <a:rPr lang="en-US" sz="2400" b="0" i="0" dirty="0">
                <a:effectLst/>
                <a:latin typeface="system-ui"/>
              </a:rPr>
              <a:t>Local Property Taxes: Include property tax rates for the area, as they can influence buyer decisions.</a:t>
            </a:r>
          </a:p>
          <a:p>
            <a:pPr algn="l"/>
            <a:r>
              <a:rPr lang="en-US" sz="2400" b="0" i="0" dirty="0">
                <a:effectLst/>
                <a:latin typeface="system-ui"/>
              </a:rPr>
              <a:t>Energy Efficiency: Add features related to the energy efficiency of the property, such as insulation quality, solar panels, and energy-efficient appliances.</a:t>
            </a:r>
          </a:p>
          <a:p>
            <a:pPr algn="l"/>
            <a:r>
              <a:rPr lang="en-US" sz="2400" b="0" i="0" dirty="0">
                <a:effectLst/>
                <a:latin typeface="system-ui"/>
              </a:rPr>
              <a:t>Historical Sales Data: Use the historical sales price trend of the specific property, if available.</a:t>
            </a:r>
          </a:p>
          <a:p>
            <a:pPr algn="l"/>
            <a:r>
              <a:rPr lang="en-US" sz="2400" b="0" i="0" dirty="0">
                <a:effectLst/>
                <a:latin typeface="system-ui"/>
              </a:rPr>
              <a:t>Seasonal Effects: Capture the time of year when the property was sold, as some seasons may be more favorable for selling homes.</a:t>
            </a:r>
          </a:p>
          <a:p>
            <a:pPr algn="l"/>
            <a:r>
              <a:rPr lang="en-US" sz="2400" b="0" i="0" dirty="0">
                <a:effectLst/>
                <a:latin typeface="system-ui"/>
              </a:rPr>
              <a:t>Flood Zone Status: Include a variable indicating whether the property is in a flood zone or other high-risk area.</a:t>
            </a:r>
          </a:p>
          <a:p>
            <a:pPr algn="l"/>
            <a:r>
              <a:rPr lang="en-US" sz="2400" b="0" i="0" dirty="0">
                <a:effectLst/>
                <a:latin typeface="system-ui"/>
              </a:rPr>
              <a:t>Homeowner Association (HOA) Fees: If applicable, add the cost of HOA fees, which can impact total ownership cost.</a:t>
            </a:r>
          </a:p>
          <a:p>
            <a:pPr algn="l"/>
            <a:r>
              <a:rPr lang="en-US" sz="2400" b="0" i="0" dirty="0">
                <a:effectLst/>
                <a:latin typeface="system-ui"/>
              </a:rPr>
              <a:t>By incorporating these features, you can improve the accuracy and robustness of your house price prediction model.</a:t>
            </a:r>
          </a:p>
          <a:p>
            <a:pPr marL="0" indent="0">
              <a:buNone/>
            </a:pPr>
            <a:endParaRPr lang="en-US" sz="2400" b="1" dirty="0">
              <a:solidFill>
                <a:schemeClr val="bg2">
                  <a:lumMod val="20000"/>
                  <a:lumOff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29546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1C208B-49BD-FD0F-F18E-61AD155EA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19E43-B180-63A0-39F2-5F70B77B1F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055" y="0"/>
            <a:ext cx="11545889" cy="1594884"/>
          </a:xfrm>
        </p:spPr>
        <p:txBody>
          <a:bodyPr/>
          <a:lstStyle/>
          <a:p>
            <a:br>
              <a:rPr lang="en-US" b="1" dirty="0">
                <a:solidFill>
                  <a:srgbClr val="FFC000"/>
                </a:solidFill>
              </a:rPr>
            </a:br>
            <a:r>
              <a:rPr lang="en-US" b="1" dirty="0">
                <a:solidFill>
                  <a:srgbClr val="FFC000"/>
                </a:solidFill>
              </a:rPr>
              <a:t>6. Feature Engineering and Size Impact:</a:t>
            </a:r>
            <a:br>
              <a:rPr lang="en-US" sz="1050" b="1" i="0" dirty="0">
                <a:effectLst/>
                <a:latin typeface="system-ui"/>
              </a:rPr>
            </a:br>
            <a:br>
              <a:rPr lang="en-IN" sz="2400" b="1" i="0" dirty="0">
                <a:effectLst/>
                <a:latin typeface="system-ui"/>
              </a:rPr>
            </a:br>
            <a:br>
              <a:rPr lang="en-IN" sz="5400" b="1" dirty="0">
                <a:solidFill>
                  <a:schemeClr val="accent2"/>
                </a:solidFill>
              </a:rPr>
            </a:br>
            <a:br>
              <a:rPr lang="en-IN" sz="5400" b="1" dirty="0">
                <a:solidFill>
                  <a:schemeClr val="accent2"/>
                </a:solidFill>
              </a:rPr>
            </a:br>
            <a:br>
              <a:rPr lang="en-IN" sz="5400" b="1" dirty="0">
                <a:solidFill>
                  <a:schemeClr val="accent2"/>
                </a:solidFill>
              </a:rPr>
            </a:br>
            <a:br>
              <a:rPr lang="en-IN" sz="5400" b="1" dirty="0">
                <a:solidFill>
                  <a:schemeClr val="accent2"/>
                </a:solidFill>
              </a:rPr>
            </a:br>
            <a:br>
              <a:rPr lang="en-IN" sz="5400" b="1" dirty="0">
                <a:solidFill>
                  <a:schemeClr val="accent2"/>
                </a:solidFill>
              </a:rPr>
            </a:br>
            <a:br>
              <a:rPr lang="en-IN" sz="5400" b="1" dirty="0">
                <a:solidFill>
                  <a:schemeClr val="accent2"/>
                </a:solidFill>
              </a:rPr>
            </a:br>
            <a:br>
              <a:rPr lang="en-IN" sz="5400" b="1" dirty="0">
                <a:solidFill>
                  <a:schemeClr val="accent2"/>
                </a:solidFill>
              </a:rPr>
            </a:br>
            <a:r>
              <a:rPr lang="en-IN" sz="5400" b="1" dirty="0">
                <a:solidFill>
                  <a:schemeClr val="accent2"/>
                </a:solidFill>
              </a:rPr>
              <a:t>			</a:t>
            </a:r>
            <a:endParaRPr lang="en-IN" sz="5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AAB94-4E3B-1E6A-45B9-DB31CBC831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818708"/>
            <a:ext cx="12192000" cy="594360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b="1" i="0" dirty="0">
              <a:effectLst/>
              <a:latin typeface="system-ui"/>
            </a:endParaRPr>
          </a:p>
          <a:p>
            <a:pPr marL="0" indent="0">
              <a:buNone/>
            </a:pPr>
            <a:endParaRPr lang="en-US" b="1" dirty="0">
              <a:latin typeface="system-ui"/>
            </a:endParaRPr>
          </a:p>
          <a:p>
            <a:pPr marL="0" indent="0">
              <a:buNone/>
            </a:pPr>
            <a:r>
              <a:rPr lang="en-US" sz="3000" b="1" i="0" dirty="0">
                <a:effectLst/>
                <a:latin typeface="system-ui"/>
              </a:rPr>
              <a:t>Explore relationships between key features (e.g., number of bedrooms, bathrooms, square footage) and house prices. Identify how these features collectively contribute to the valuation.</a:t>
            </a:r>
          </a:p>
          <a:p>
            <a:pPr marL="0" indent="0">
              <a:buNone/>
            </a:pPr>
            <a:endParaRPr lang="en-US" b="1" dirty="0">
              <a:solidFill>
                <a:schemeClr val="bg2">
                  <a:lumMod val="20000"/>
                  <a:lumOff val="80000"/>
                </a:schemeClr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bg2">
                    <a:lumMod val="20000"/>
                    <a:lumOff val="80000"/>
                  </a:schemeClr>
                </a:solidFill>
              </a:rPr>
              <a:t>Step 1: Data Collection ensure you have a comprehensive dataset with features such as:1) Number of Bedrooms2) Number of Bathrooms3) Square Footage4) House Price.</a:t>
            </a:r>
          </a:p>
          <a:p>
            <a:pPr marL="0" indent="0">
              <a:buNone/>
            </a:pPr>
            <a:endParaRPr lang="en-US" b="1" dirty="0">
              <a:solidFill>
                <a:schemeClr val="bg2">
                  <a:lumMod val="20000"/>
                  <a:lumOff val="80000"/>
                </a:schemeClr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bg2">
                    <a:lumMod val="20000"/>
                    <a:lumOff val="80000"/>
                  </a:schemeClr>
                </a:solidFill>
              </a:rPr>
              <a:t>Step 2: Exploratory Data Analysis (EDA)Perform EDA to visualize and understand the relationships between features and house prices.</a:t>
            </a:r>
          </a:p>
          <a:p>
            <a:pPr marL="0" indent="0">
              <a:buNone/>
            </a:pPr>
            <a:endParaRPr lang="en-US" b="1" dirty="0">
              <a:solidFill>
                <a:schemeClr val="bg2">
                  <a:lumMod val="20000"/>
                  <a:lumOff val="80000"/>
                </a:schemeClr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bg2">
                    <a:lumMod val="20000"/>
                    <a:lumOff val="80000"/>
                  </a:schemeClr>
                </a:solidFill>
              </a:rPr>
              <a:t>Correlation Matrix A correlation matrix helps identify the strength and direction of relationships between features and house prices.</a:t>
            </a:r>
          </a:p>
          <a:p>
            <a:pPr marL="0" indent="0">
              <a:buNone/>
            </a:pPr>
            <a:endParaRPr lang="en-US" sz="2400" b="1" dirty="0">
              <a:solidFill>
                <a:schemeClr val="bg2">
                  <a:lumMod val="20000"/>
                  <a:lumOff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37037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D97D59-BA3F-0A5B-D810-8822374406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52422-05B6-BB8E-BDAF-94ACEA3069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055" y="0"/>
            <a:ext cx="11545889" cy="1594884"/>
          </a:xfrm>
        </p:spPr>
        <p:txBody>
          <a:bodyPr/>
          <a:lstStyle/>
          <a:p>
            <a:br>
              <a:rPr lang="en-US" sz="1050" b="1" i="0" dirty="0">
                <a:effectLst/>
                <a:latin typeface="system-ui"/>
              </a:rPr>
            </a:br>
            <a:r>
              <a:rPr lang="en-US" sz="4500" b="1" dirty="0">
                <a:solidFill>
                  <a:srgbClr val="FFC000"/>
                </a:solidFill>
              </a:rPr>
              <a:t>7. Market Trends and Historical Pricing:</a:t>
            </a:r>
            <a:br>
              <a:rPr lang="en-US" sz="2400" b="1" dirty="0">
                <a:solidFill>
                  <a:srgbClr val="FFC000"/>
                </a:solidFill>
              </a:rPr>
            </a:br>
            <a:br>
              <a:rPr lang="en-IN" sz="2400" b="1" i="0" dirty="0">
                <a:effectLst/>
                <a:latin typeface="system-ui"/>
              </a:rPr>
            </a:br>
            <a:br>
              <a:rPr lang="en-IN" sz="5400" b="1" dirty="0">
                <a:solidFill>
                  <a:schemeClr val="accent2"/>
                </a:solidFill>
              </a:rPr>
            </a:br>
            <a:br>
              <a:rPr lang="en-IN" sz="5400" b="1" dirty="0">
                <a:solidFill>
                  <a:schemeClr val="accent2"/>
                </a:solidFill>
              </a:rPr>
            </a:br>
            <a:br>
              <a:rPr lang="en-IN" sz="5400" b="1" dirty="0">
                <a:solidFill>
                  <a:schemeClr val="accent2"/>
                </a:solidFill>
              </a:rPr>
            </a:br>
            <a:br>
              <a:rPr lang="en-IN" sz="5400" b="1" dirty="0">
                <a:solidFill>
                  <a:schemeClr val="accent2"/>
                </a:solidFill>
              </a:rPr>
            </a:br>
            <a:br>
              <a:rPr lang="en-IN" sz="5400" b="1" dirty="0">
                <a:solidFill>
                  <a:schemeClr val="accent2"/>
                </a:solidFill>
              </a:rPr>
            </a:br>
            <a:br>
              <a:rPr lang="en-IN" sz="5400" b="1" dirty="0">
                <a:solidFill>
                  <a:schemeClr val="accent2"/>
                </a:solidFill>
              </a:rPr>
            </a:br>
            <a:br>
              <a:rPr lang="en-IN" sz="5400" b="1" dirty="0">
                <a:solidFill>
                  <a:schemeClr val="accent2"/>
                </a:solidFill>
              </a:rPr>
            </a:br>
            <a:r>
              <a:rPr lang="en-IN" sz="5400" b="1" dirty="0">
                <a:solidFill>
                  <a:schemeClr val="accent2"/>
                </a:solidFill>
              </a:rPr>
              <a:t>			</a:t>
            </a:r>
            <a:endParaRPr lang="en-IN" sz="5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EDB6E0-209D-A5FC-EED0-7DDC9B9605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429" y="1169583"/>
            <a:ext cx="12192000" cy="5943600"/>
          </a:xfrm>
        </p:spPr>
        <p:txBody>
          <a:bodyPr>
            <a:normAutofit fontScale="40000" lnSpcReduction="20000"/>
          </a:bodyPr>
          <a:lstStyle/>
          <a:p>
            <a:pPr marL="0" indent="0">
              <a:buNone/>
            </a:pPr>
            <a:endParaRPr lang="en-US" sz="4200" b="1" dirty="0">
              <a:solidFill>
                <a:srgbClr val="FFC000"/>
              </a:solidFill>
            </a:endParaRPr>
          </a:p>
          <a:p>
            <a:pPr marL="0" indent="0">
              <a:buNone/>
            </a:pPr>
            <a:r>
              <a:rPr lang="en-US" sz="7700" b="1" i="0" dirty="0">
                <a:effectLst/>
                <a:latin typeface="system-ui"/>
              </a:rPr>
              <a:t>Analyze the dataset temporally, looking at trends in house prices over different periods. Understand how external factors, such as economic indicators, may have influenced these trends.</a:t>
            </a:r>
          </a:p>
          <a:p>
            <a:pPr marL="0" indent="0">
              <a:buNone/>
            </a:pPr>
            <a:endParaRPr lang="en-US" sz="2800" b="1" dirty="0">
              <a:latin typeface="system-ui"/>
            </a:endParaRPr>
          </a:p>
          <a:p>
            <a:pPr algn="l"/>
            <a:r>
              <a:rPr lang="en-US" sz="6000" b="1" i="0" dirty="0">
                <a:effectLst/>
                <a:latin typeface="system-ui"/>
              </a:rPr>
              <a:t>To analyze house prices temporally and understand the influence of external factors, we'll follow these steps:</a:t>
            </a:r>
          </a:p>
          <a:p>
            <a:pPr algn="l">
              <a:buFont typeface="+mj-lt"/>
              <a:buAutoNum type="arabicPeriod"/>
            </a:pPr>
            <a:r>
              <a:rPr lang="en-US" sz="6000" b="0" i="0" dirty="0">
                <a:effectLst/>
                <a:latin typeface="system-ui"/>
              </a:rPr>
              <a:t>Data Collection</a:t>
            </a:r>
          </a:p>
          <a:p>
            <a:pPr algn="l"/>
            <a:r>
              <a:rPr lang="en-US" sz="6000" b="0" i="0" dirty="0">
                <a:effectLst/>
                <a:latin typeface="system-ui"/>
              </a:rPr>
              <a:t>Gather historical house price data over different periods (e.g., monthly or yearly).</a:t>
            </a:r>
          </a:p>
          <a:p>
            <a:pPr algn="l"/>
            <a:r>
              <a:rPr lang="en-US" sz="6000" b="0" i="0" dirty="0">
                <a:effectLst/>
                <a:latin typeface="system-ui"/>
              </a:rPr>
              <a:t>Collect economic indicators such as GDP growth, unemployment rates, inflation rates, interest rates, and other relevant factors.</a:t>
            </a:r>
          </a:p>
          <a:p>
            <a:pPr algn="l">
              <a:buFont typeface="+mj-lt"/>
              <a:buAutoNum type="arabicPeriod" startAt="2"/>
            </a:pPr>
            <a:r>
              <a:rPr lang="en-US" sz="6000" b="0" i="0" dirty="0">
                <a:effectLst/>
                <a:latin typeface="system-ui"/>
              </a:rPr>
              <a:t>Data Preprocessing</a:t>
            </a:r>
          </a:p>
          <a:p>
            <a:pPr algn="l"/>
            <a:r>
              <a:rPr lang="en-US" sz="6000" b="0" i="0" dirty="0">
                <a:effectLst/>
                <a:latin typeface="system-ui"/>
              </a:rPr>
              <a:t>Clean the data to handle missing values, outliers, and inconsistencies.</a:t>
            </a:r>
          </a:p>
          <a:p>
            <a:pPr algn="l"/>
            <a:r>
              <a:rPr lang="en-US" sz="6000" b="0" i="0" dirty="0">
                <a:effectLst/>
                <a:latin typeface="system-ui"/>
              </a:rPr>
              <a:t>Standardize the data format for consistency.</a:t>
            </a:r>
          </a:p>
          <a:p>
            <a:pPr marL="0" indent="0">
              <a:buNone/>
            </a:pPr>
            <a:endParaRPr lang="en-US" sz="2800" b="1" i="0" dirty="0">
              <a:effectLst/>
              <a:latin typeface="system-ui"/>
            </a:endParaRPr>
          </a:p>
          <a:p>
            <a:pPr marL="0" indent="0">
              <a:buNone/>
            </a:pPr>
            <a:endParaRPr lang="en-US" sz="3000" b="1" i="0" dirty="0">
              <a:effectLst/>
              <a:latin typeface="system-ui"/>
            </a:endParaRPr>
          </a:p>
          <a:p>
            <a:pPr marL="0" indent="0">
              <a:buNone/>
            </a:pPr>
            <a:endParaRPr lang="en-US" sz="3000" b="1" i="0" dirty="0">
              <a:effectLst/>
              <a:latin typeface="system-ui"/>
            </a:endParaRPr>
          </a:p>
          <a:p>
            <a:pPr marL="0" indent="0">
              <a:buNone/>
            </a:pPr>
            <a:endParaRPr lang="en-US" sz="2400" b="1" dirty="0">
              <a:solidFill>
                <a:schemeClr val="bg2">
                  <a:lumMod val="20000"/>
                  <a:lumOff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63512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D46E97-7CE2-DC80-18E6-16F12812F6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D2DF25-EE86-A155-B822-231D229CD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055" y="0"/>
            <a:ext cx="11545889" cy="1594884"/>
          </a:xfrm>
        </p:spPr>
        <p:txBody>
          <a:bodyPr/>
          <a:lstStyle/>
          <a:p>
            <a:br>
              <a:rPr lang="en-US" sz="1050" b="1" i="0" dirty="0">
                <a:effectLst/>
                <a:latin typeface="system-ui"/>
              </a:rPr>
            </a:br>
            <a:r>
              <a:rPr lang="en-US" sz="4500" b="1" dirty="0">
                <a:solidFill>
                  <a:srgbClr val="FFC000"/>
                </a:solidFill>
              </a:rPr>
              <a:t>7. Market Trends and Historical Pricing:</a:t>
            </a:r>
            <a:br>
              <a:rPr lang="en-US" sz="2400" b="1" dirty="0">
                <a:solidFill>
                  <a:srgbClr val="FFC000"/>
                </a:solidFill>
              </a:rPr>
            </a:br>
            <a:br>
              <a:rPr lang="en-IN" sz="2400" b="1" i="0" dirty="0">
                <a:effectLst/>
                <a:latin typeface="system-ui"/>
              </a:rPr>
            </a:br>
            <a:br>
              <a:rPr lang="en-IN" sz="5400" b="1" dirty="0">
                <a:solidFill>
                  <a:schemeClr val="accent2"/>
                </a:solidFill>
              </a:rPr>
            </a:br>
            <a:br>
              <a:rPr lang="en-IN" sz="5400" b="1" dirty="0">
                <a:solidFill>
                  <a:schemeClr val="accent2"/>
                </a:solidFill>
              </a:rPr>
            </a:br>
            <a:br>
              <a:rPr lang="en-IN" sz="5400" b="1" dirty="0">
                <a:solidFill>
                  <a:schemeClr val="accent2"/>
                </a:solidFill>
              </a:rPr>
            </a:br>
            <a:br>
              <a:rPr lang="en-IN" sz="5400" b="1" dirty="0">
                <a:solidFill>
                  <a:schemeClr val="accent2"/>
                </a:solidFill>
              </a:rPr>
            </a:br>
            <a:br>
              <a:rPr lang="en-IN" sz="5400" b="1" dirty="0">
                <a:solidFill>
                  <a:schemeClr val="accent2"/>
                </a:solidFill>
              </a:rPr>
            </a:br>
            <a:br>
              <a:rPr lang="en-IN" sz="5400" b="1" dirty="0">
                <a:solidFill>
                  <a:schemeClr val="accent2"/>
                </a:solidFill>
              </a:rPr>
            </a:br>
            <a:br>
              <a:rPr lang="en-IN" sz="5400" b="1" dirty="0">
                <a:solidFill>
                  <a:schemeClr val="accent2"/>
                </a:solidFill>
              </a:rPr>
            </a:br>
            <a:r>
              <a:rPr lang="en-IN" sz="5400" b="1" dirty="0">
                <a:solidFill>
                  <a:schemeClr val="accent2"/>
                </a:solidFill>
              </a:rPr>
              <a:t>			</a:t>
            </a:r>
            <a:endParaRPr lang="en-IN" sz="5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4060B8-C1D9-FC23-7E93-0AE302A559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429" y="1169583"/>
            <a:ext cx="12192000" cy="5486398"/>
          </a:xfrm>
        </p:spPr>
        <p:txBody>
          <a:bodyPr>
            <a:normAutofit fontScale="40000" lnSpcReduction="20000"/>
          </a:bodyPr>
          <a:lstStyle/>
          <a:p>
            <a:pPr marL="0" indent="0">
              <a:buNone/>
            </a:pPr>
            <a:endParaRPr lang="en-US" sz="4200" b="1" dirty="0">
              <a:solidFill>
                <a:srgbClr val="FFC000"/>
              </a:solidFill>
            </a:endParaRPr>
          </a:p>
          <a:p>
            <a:pPr algn="l">
              <a:buFont typeface="+mj-lt"/>
              <a:buAutoNum type="arabicPeriod" startAt="3"/>
            </a:pPr>
            <a:r>
              <a:rPr lang="en-US" sz="6000" b="0" i="0" dirty="0">
                <a:effectLst/>
                <a:latin typeface="system-ui"/>
              </a:rPr>
              <a:t>Visualization of House Price Trends</a:t>
            </a:r>
          </a:p>
          <a:p>
            <a:pPr algn="l"/>
            <a:r>
              <a:rPr lang="en-US" sz="6000" b="0" i="0" dirty="0">
                <a:effectLst/>
                <a:latin typeface="system-ui"/>
              </a:rPr>
              <a:t>Plot house prices over time using line charts to identify trends and seasonal patterns.</a:t>
            </a:r>
          </a:p>
          <a:p>
            <a:pPr algn="l">
              <a:buFont typeface="+mj-lt"/>
              <a:buAutoNum type="arabicPeriod" startAt="4"/>
            </a:pPr>
            <a:r>
              <a:rPr lang="en-US" sz="6000" b="0" i="0" dirty="0">
                <a:effectLst/>
                <a:latin typeface="system-ui"/>
              </a:rPr>
              <a:t>Correlation Analysis</a:t>
            </a:r>
          </a:p>
          <a:p>
            <a:pPr algn="l"/>
            <a:r>
              <a:rPr lang="en-US" sz="6000" b="0" i="0" dirty="0">
                <a:effectLst/>
                <a:latin typeface="system-ui"/>
              </a:rPr>
              <a:t>Calculate correlations between house prices and economic indicators to identify significant relationships.</a:t>
            </a:r>
          </a:p>
          <a:p>
            <a:pPr algn="l">
              <a:buFont typeface="+mj-lt"/>
              <a:buAutoNum type="arabicPeriod" startAt="5"/>
            </a:pPr>
            <a:r>
              <a:rPr lang="en-US" sz="6000" b="0" i="0" dirty="0">
                <a:effectLst/>
                <a:latin typeface="system-ui"/>
              </a:rPr>
              <a:t>Temporal Analysis</a:t>
            </a:r>
          </a:p>
          <a:p>
            <a:pPr algn="l"/>
            <a:r>
              <a:rPr lang="en-US" sz="6000" b="0" i="0" dirty="0">
                <a:effectLst/>
                <a:latin typeface="system-ui"/>
              </a:rPr>
              <a:t>Divide the data into different periods (e.g., pre-2008 financial crisis, post-crisis recovery) and analyze trends within each period.</a:t>
            </a:r>
          </a:p>
          <a:p>
            <a:pPr algn="l">
              <a:buFont typeface="+mj-lt"/>
              <a:buAutoNum type="arabicPeriod" startAt="6"/>
            </a:pPr>
            <a:r>
              <a:rPr lang="en-US" sz="6000" b="0" i="0" dirty="0">
                <a:effectLst/>
                <a:latin typeface="system-ui"/>
              </a:rPr>
              <a:t>Regression Analysis</a:t>
            </a:r>
          </a:p>
          <a:p>
            <a:pPr algn="l"/>
            <a:r>
              <a:rPr lang="en-US" sz="6000" b="0" i="0" dirty="0">
                <a:effectLst/>
                <a:latin typeface="system-ui"/>
              </a:rPr>
              <a:t>Use regression models to quantify the impact of economic indicators on house prices.</a:t>
            </a:r>
          </a:p>
          <a:p>
            <a:pPr marL="0" indent="0">
              <a:buNone/>
            </a:pPr>
            <a:endParaRPr lang="en-US" sz="2800" b="1" i="0" dirty="0">
              <a:effectLst/>
              <a:latin typeface="system-ui"/>
            </a:endParaRPr>
          </a:p>
          <a:p>
            <a:pPr marL="0" indent="0">
              <a:buNone/>
            </a:pPr>
            <a:endParaRPr lang="en-US" sz="3000" b="1" i="0" dirty="0">
              <a:effectLst/>
              <a:latin typeface="system-ui"/>
            </a:endParaRPr>
          </a:p>
          <a:p>
            <a:pPr marL="0" indent="0">
              <a:buNone/>
            </a:pPr>
            <a:endParaRPr lang="en-US" sz="3000" b="1" i="0" dirty="0">
              <a:effectLst/>
              <a:latin typeface="system-ui"/>
            </a:endParaRPr>
          </a:p>
          <a:p>
            <a:pPr marL="0" indent="0">
              <a:buNone/>
            </a:pPr>
            <a:endParaRPr lang="en-US" sz="2400" b="1" dirty="0">
              <a:solidFill>
                <a:schemeClr val="bg2">
                  <a:lumMod val="20000"/>
                  <a:lumOff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62288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1D28C5-BC66-7193-CBB0-E90B39D58B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3EC5F-9958-EC42-5CE0-AD1A829F63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055" y="0"/>
            <a:ext cx="11545889" cy="1594884"/>
          </a:xfrm>
        </p:spPr>
        <p:txBody>
          <a:bodyPr/>
          <a:lstStyle/>
          <a:p>
            <a:br>
              <a:rPr lang="en-US" sz="1050" b="1" i="0" dirty="0">
                <a:effectLst/>
                <a:latin typeface="system-ui"/>
              </a:rPr>
            </a:br>
            <a:r>
              <a:rPr lang="en-US" sz="4500" b="1" dirty="0">
                <a:solidFill>
                  <a:srgbClr val="FFC000"/>
                </a:solidFill>
              </a:rPr>
              <a:t>8. Customer Preferences and Amenities:</a:t>
            </a:r>
            <a:br>
              <a:rPr lang="en-US" sz="4500" b="1" dirty="0">
                <a:solidFill>
                  <a:srgbClr val="FFC000"/>
                </a:solidFill>
              </a:rPr>
            </a:br>
            <a:br>
              <a:rPr lang="en-US" sz="2400" b="1" dirty="0">
                <a:solidFill>
                  <a:srgbClr val="FFC000"/>
                </a:solidFill>
              </a:rPr>
            </a:br>
            <a:br>
              <a:rPr lang="en-IN" sz="2400" b="1" i="0" dirty="0">
                <a:effectLst/>
                <a:latin typeface="system-ui"/>
              </a:rPr>
            </a:br>
            <a:br>
              <a:rPr lang="en-IN" sz="5400" b="1" dirty="0">
                <a:solidFill>
                  <a:schemeClr val="accent2"/>
                </a:solidFill>
              </a:rPr>
            </a:br>
            <a:br>
              <a:rPr lang="en-IN" sz="5400" b="1" dirty="0">
                <a:solidFill>
                  <a:schemeClr val="accent2"/>
                </a:solidFill>
              </a:rPr>
            </a:br>
            <a:br>
              <a:rPr lang="en-IN" sz="5400" b="1" dirty="0">
                <a:solidFill>
                  <a:schemeClr val="accent2"/>
                </a:solidFill>
              </a:rPr>
            </a:br>
            <a:br>
              <a:rPr lang="en-IN" sz="5400" b="1" dirty="0">
                <a:solidFill>
                  <a:schemeClr val="accent2"/>
                </a:solidFill>
              </a:rPr>
            </a:br>
            <a:br>
              <a:rPr lang="en-IN" sz="5400" b="1" dirty="0">
                <a:solidFill>
                  <a:schemeClr val="accent2"/>
                </a:solidFill>
              </a:rPr>
            </a:br>
            <a:br>
              <a:rPr lang="en-IN" sz="5400" b="1" dirty="0">
                <a:solidFill>
                  <a:schemeClr val="accent2"/>
                </a:solidFill>
              </a:rPr>
            </a:br>
            <a:br>
              <a:rPr lang="en-IN" sz="5400" b="1" dirty="0">
                <a:solidFill>
                  <a:schemeClr val="accent2"/>
                </a:solidFill>
              </a:rPr>
            </a:br>
            <a:r>
              <a:rPr lang="en-IN" sz="5400" b="1" dirty="0">
                <a:solidFill>
                  <a:schemeClr val="accent2"/>
                </a:solidFill>
              </a:rPr>
              <a:t>			</a:t>
            </a:r>
            <a:endParaRPr lang="en-IN" sz="5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38CF07-E84C-D495-4137-0D2A90A095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429" y="1169583"/>
            <a:ext cx="12192000" cy="5592724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400" b="1" i="0" dirty="0">
                <a:effectLst/>
                <a:latin typeface="system-ui"/>
              </a:rPr>
              <a:t>Examine the dataset to understand how specific amenities (e.g., swimming pool, garage) impact house prices. Analyze customer feedback or reviews to gauge the perceived value of these amenities.</a:t>
            </a:r>
          </a:p>
          <a:p>
            <a:pPr algn="l"/>
            <a:r>
              <a:rPr lang="en-US" sz="2400" b="0" i="0" dirty="0">
                <a:effectLst/>
                <a:latin typeface="system-ui"/>
              </a:rPr>
              <a:t>Step 1: Data Collection</a:t>
            </a:r>
          </a:p>
          <a:p>
            <a:pPr algn="l"/>
            <a:r>
              <a:rPr lang="en-US" sz="2400" b="0" i="0" dirty="0">
                <a:effectLst/>
                <a:latin typeface="system-ui"/>
              </a:rPr>
              <a:t>Gather data on house prices and specific amenities, as well as customer feedback or reviews. This can include:</a:t>
            </a:r>
          </a:p>
          <a:p>
            <a:pPr algn="l"/>
            <a:r>
              <a:rPr lang="en-US" sz="2400" b="0" i="0" dirty="0">
                <a:effectLst/>
                <a:latin typeface="system-ui"/>
              </a:rPr>
              <a:t>House Prices: Historical house price data.</a:t>
            </a:r>
          </a:p>
          <a:p>
            <a:pPr algn="l"/>
            <a:r>
              <a:rPr lang="en-US" sz="2400" b="0" i="0" dirty="0">
                <a:effectLst/>
                <a:latin typeface="system-ui"/>
              </a:rPr>
              <a:t>Amenities: Information on amenities such as swimming pools, garages, gardens, gyms, etc.</a:t>
            </a:r>
          </a:p>
          <a:p>
            <a:pPr algn="l"/>
            <a:r>
              <a:rPr lang="en-US" sz="2400" b="0" i="0" dirty="0">
                <a:effectLst/>
                <a:latin typeface="system-ui"/>
              </a:rPr>
              <a:t>Customer Feedback: Reviews or feedback from buyers or residents, potentially scraped from real estate websites or surveys.</a:t>
            </a:r>
          </a:p>
          <a:p>
            <a:pPr algn="l"/>
            <a:r>
              <a:rPr lang="en-US" sz="2400" b="0" i="0" dirty="0">
                <a:effectLst/>
                <a:latin typeface="system-ui"/>
              </a:rPr>
              <a:t>Step 2: Data Preprocessing Clean and preprocess the data to handle missing values, outliers, and inconsistencies. Standardize the data format for consistency.</a:t>
            </a:r>
          </a:p>
          <a:p>
            <a:pPr algn="l"/>
            <a:r>
              <a:rPr lang="en-US" sz="2400" b="0" i="0" dirty="0">
                <a:effectLst/>
                <a:latin typeface="system-ui"/>
              </a:rPr>
              <a:t>Step 3: Exploratory Data Analysis (EDA) Perform EDA to understand the relationships between house prices and specific amenities:</a:t>
            </a:r>
          </a:p>
          <a:p>
            <a:pPr algn="l"/>
            <a:r>
              <a:rPr lang="en-US" sz="2400" b="0" i="0" dirty="0">
                <a:effectLst/>
                <a:latin typeface="system-ui"/>
              </a:rPr>
              <a:t>Correlation Analysis: Identify correlations between house prices and different amenities.</a:t>
            </a:r>
          </a:p>
          <a:p>
            <a:pPr algn="l"/>
            <a:r>
              <a:rPr lang="en-US" sz="2400" b="0" i="0" dirty="0">
                <a:effectLst/>
                <a:latin typeface="system-ui"/>
              </a:rPr>
              <a:t>Visualization: Use scatter plots, histograms, and box plots to visualize trends and distributions.</a:t>
            </a:r>
          </a:p>
          <a:p>
            <a:pPr marL="0" indent="0">
              <a:buNone/>
            </a:pPr>
            <a:endParaRPr lang="en-US" sz="2800" b="1" i="0" dirty="0">
              <a:effectLst/>
              <a:latin typeface="system-ui"/>
            </a:endParaRPr>
          </a:p>
          <a:p>
            <a:pPr marL="0" indent="0">
              <a:buNone/>
            </a:pPr>
            <a:endParaRPr lang="en-US" sz="3000" b="1" i="0" dirty="0">
              <a:effectLst/>
              <a:latin typeface="system-ui"/>
            </a:endParaRPr>
          </a:p>
          <a:p>
            <a:pPr marL="0" indent="0">
              <a:buNone/>
            </a:pPr>
            <a:endParaRPr lang="en-US" sz="3000" b="1" i="0" dirty="0">
              <a:effectLst/>
              <a:latin typeface="system-ui"/>
            </a:endParaRPr>
          </a:p>
          <a:p>
            <a:pPr marL="0" indent="0">
              <a:buNone/>
            </a:pPr>
            <a:endParaRPr lang="en-US" sz="2400" b="1" dirty="0">
              <a:solidFill>
                <a:schemeClr val="bg2">
                  <a:lumMod val="20000"/>
                  <a:lumOff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69721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A61F3A-624C-A226-3226-8A834A9A66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CB4AE-7B46-4FAE-D27B-F02EB401BC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055" y="0"/>
            <a:ext cx="11545889" cy="1594884"/>
          </a:xfrm>
        </p:spPr>
        <p:txBody>
          <a:bodyPr/>
          <a:lstStyle/>
          <a:p>
            <a:br>
              <a:rPr lang="en-US" sz="1050" b="1" i="0" dirty="0">
                <a:effectLst/>
                <a:latin typeface="system-ui"/>
              </a:rPr>
            </a:br>
            <a:r>
              <a:rPr lang="en-US" sz="4500" b="1" dirty="0">
                <a:solidFill>
                  <a:srgbClr val="FFC000"/>
                </a:solidFill>
              </a:rPr>
              <a:t>8. Customer Preferences and Amenities:</a:t>
            </a:r>
            <a:br>
              <a:rPr lang="en-US" sz="4500" b="1" dirty="0">
                <a:solidFill>
                  <a:srgbClr val="FFC000"/>
                </a:solidFill>
              </a:rPr>
            </a:br>
            <a:br>
              <a:rPr lang="en-US" sz="2400" b="1" dirty="0">
                <a:solidFill>
                  <a:srgbClr val="FFC000"/>
                </a:solidFill>
              </a:rPr>
            </a:br>
            <a:br>
              <a:rPr lang="en-IN" sz="2400" b="1" i="0" dirty="0">
                <a:effectLst/>
                <a:latin typeface="system-ui"/>
              </a:rPr>
            </a:br>
            <a:br>
              <a:rPr lang="en-IN" sz="5400" b="1" dirty="0">
                <a:solidFill>
                  <a:schemeClr val="accent2"/>
                </a:solidFill>
              </a:rPr>
            </a:br>
            <a:br>
              <a:rPr lang="en-IN" sz="5400" b="1" dirty="0">
                <a:solidFill>
                  <a:schemeClr val="accent2"/>
                </a:solidFill>
              </a:rPr>
            </a:br>
            <a:br>
              <a:rPr lang="en-IN" sz="5400" b="1" dirty="0">
                <a:solidFill>
                  <a:schemeClr val="accent2"/>
                </a:solidFill>
              </a:rPr>
            </a:br>
            <a:br>
              <a:rPr lang="en-IN" sz="5400" b="1" dirty="0">
                <a:solidFill>
                  <a:schemeClr val="accent2"/>
                </a:solidFill>
              </a:rPr>
            </a:br>
            <a:br>
              <a:rPr lang="en-IN" sz="5400" b="1" dirty="0">
                <a:solidFill>
                  <a:schemeClr val="accent2"/>
                </a:solidFill>
              </a:rPr>
            </a:br>
            <a:br>
              <a:rPr lang="en-IN" sz="5400" b="1" dirty="0">
                <a:solidFill>
                  <a:schemeClr val="accent2"/>
                </a:solidFill>
              </a:rPr>
            </a:br>
            <a:br>
              <a:rPr lang="en-IN" sz="5400" b="1" dirty="0">
                <a:solidFill>
                  <a:schemeClr val="accent2"/>
                </a:solidFill>
              </a:rPr>
            </a:br>
            <a:r>
              <a:rPr lang="en-IN" sz="5400" b="1" dirty="0">
                <a:solidFill>
                  <a:schemeClr val="accent2"/>
                </a:solidFill>
              </a:rPr>
              <a:t>			</a:t>
            </a:r>
            <a:endParaRPr lang="en-IN" sz="5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9EED7F-9743-EB30-0805-84BCDD7E72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429" y="1169583"/>
            <a:ext cx="12192000" cy="594360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endParaRPr lang="en-US" sz="4200" b="1" dirty="0">
              <a:solidFill>
                <a:srgbClr val="FFC000"/>
              </a:solidFill>
            </a:endParaRPr>
          </a:p>
          <a:p>
            <a:pPr marL="0" indent="0">
              <a:buNone/>
            </a:pPr>
            <a:r>
              <a:rPr lang="en-US" sz="2400" b="1" i="0" dirty="0">
                <a:effectLst/>
                <a:latin typeface="system-ui"/>
              </a:rPr>
              <a:t>Examine the dataset to understand how specific amenities (e.g., swimming pool, garage) impact house prices. Analyze customer feedback or reviews to gauge the perceived value of these amenities.</a:t>
            </a:r>
          </a:p>
          <a:p>
            <a:pPr marL="0" indent="0">
              <a:buNone/>
            </a:pPr>
            <a:endParaRPr lang="en-US" sz="2800" b="1" dirty="0">
              <a:latin typeface="system-ui"/>
            </a:endParaRPr>
          </a:p>
          <a:p>
            <a:pPr algn="l"/>
            <a:r>
              <a:rPr lang="en-US" sz="2400" b="0" i="0" dirty="0">
                <a:effectLst/>
                <a:latin typeface="system-ui"/>
              </a:rPr>
              <a:t>Step 4: Feature Engineering Create new features that capture the presence or quality of amenities:</a:t>
            </a:r>
          </a:p>
          <a:p>
            <a:pPr algn="l"/>
            <a:r>
              <a:rPr lang="en-US" sz="2400" b="0" i="0" dirty="0">
                <a:effectLst/>
                <a:latin typeface="system-ui"/>
              </a:rPr>
              <a:t>Binary Variables: Create binary variables indicating the presence or absence of specific amenities (e.g., swimming pool, garage).</a:t>
            </a:r>
          </a:p>
          <a:p>
            <a:pPr algn="l"/>
            <a:r>
              <a:rPr lang="en-US" sz="2400" b="0" i="0" dirty="0">
                <a:effectLst/>
                <a:latin typeface="system-ui"/>
              </a:rPr>
              <a:t>Amenity Scores: Assign scores to properties based on the number and quality of amenities.</a:t>
            </a:r>
          </a:p>
          <a:p>
            <a:pPr algn="l"/>
            <a:r>
              <a:rPr lang="en-US" sz="2400" b="0" i="0" dirty="0">
                <a:effectLst/>
                <a:latin typeface="system-ui"/>
              </a:rPr>
              <a:t>Step 5: Regression Analysis Use regression models to quantify the impact of specific amenities on house prices:</a:t>
            </a:r>
          </a:p>
          <a:p>
            <a:pPr algn="l"/>
            <a:r>
              <a:rPr lang="en-US" sz="2400" b="0" i="0" dirty="0">
                <a:effectLst/>
                <a:latin typeface="system-ui"/>
              </a:rPr>
              <a:t>Hedonic Pricing Model: This model estimates house prices based on the characteristics of the property and its surrounding environment.</a:t>
            </a:r>
          </a:p>
          <a:p>
            <a:pPr algn="l"/>
            <a:r>
              <a:rPr lang="en-US" sz="2400" b="0" i="0" dirty="0">
                <a:effectLst/>
                <a:latin typeface="system-ui"/>
              </a:rPr>
              <a:t>Regression Analysis: Perform regression analysis to determine the significance and impact of different amenities.</a:t>
            </a:r>
          </a:p>
          <a:p>
            <a:pPr algn="l"/>
            <a:r>
              <a:rPr lang="en-US" sz="2400" b="0" i="0" dirty="0">
                <a:effectLst/>
                <a:latin typeface="system-ui"/>
              </a:rPr>
              <a:t>Step 6: Sentiment Analysis Analyze customer feedback or reviews to gauge the perceived value of specific amenities:</a:t>
            </a:r>
          </a:p>
          <a:p>
            <a:pPr algn="l"/>
            <a:r>
              <a:rPr lang="en-US" sz="2400" b="0" i="0" dirty="0">
                <a:effectLst/>
                <a:latin typeface="system-ui"/>
              </a:rPr>
              <a:t>Text Preprocessing: Clean and preprocess the text data (e.g., removing stop words, stemming, and lemmatization).</a:t>
            </a:r>
          </a:p>
          <a:p>
            <a:pPr algn="l"/>
            <a:r>
              <a:rPr lang="en-US" sz="2400" b="0" i="0" dirty="0">
                <a:effectLst/>
                <a:latin typeface="system-ui"/>
              </a:rPr>
              <a:t>Sentiment Analysis: Use sentiment analysis tools to evaluate the sentiment of reviews and identify common themes.</a:t>
            </a:r>
          </a:p>
          <a:p>
            <a:pPr algn="l"/>
            <a:r>
              <a:rPr lang="en-US" sz="2400" b="0" i="0" dirty="0">
                <a:effectLst/>
                <a:latin typeface="system-ui"/>
              </a:rPr>
              <a:t>Topic Modeling: Apply topic modeling techniques to uncover recurring topics related to amenities.</a:t>
            </a:r>
          </a:p>
          <a:p>
            <a:pPr marL="0" indent="0">
              <a:buNone/>
            </a:pPr>
            <a:endParaRPr lang="en-US" sz="2800" b="1" i="0" dirty="0">
              <a:effectLst/>
              <a:latin typeface="system-ui"/>
            </a:endParaRPr>
          </a:p>
          <a:p>
            <a:pPr marL="0" indent="0">
              <a:buNone/>
            </a:pPr>
            <a:endParaRPr lang="en-US" sz="3000" b="1" i="0" dirty="0">
              <a:effectLst/>
              <a:latin typeface="system-ui"/>
            </a:endParaRPr>
          </a:p>
          <a:p>
            <a:pPr marL="0" indent="0">
              <a:buNone/>
            </a:pPr>
            <a:endParaRPr lang="en-US" sz="3000" b="1" i="0" dirty="0">
              <a:effectLst/>
              <a:latin typeface="system-ui"/>
            </a:endParaRPr>
          </a:p>
          <a:p>
            <a:pPr marL="0" indent="0">
              <a:buNone/>
            </a:pPr>
            <a:endParaRPr lang="en-US" sz="2400" b="1" dirty="0">
              <a:solidFill>
                <a:schemeClr val="bg2">
                  <a:lumMod val="20000"/>
                  <a:lumOff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40021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854443-A679-845C-8336-7E85791B20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FD4F2-11EE-B2C2-2432-261810B1CA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055" y="0"/>
            <a:ext cx="11545889" cy="6858000"/>
          </a:xfrm>
        </p:spPr>
        <p:txBody>
          <a:bodyPr/>
          <a:lstStyle/>
          <a:p>
            <a:br>
              <a:rPr lang="en-US" sz="1050" b="1" i="0" dirty="0">
                <a:effectLst/>
                <a:latin typeface="system-ui"/>
              </a:rPr>
            </a:br>
            <a:br>
              <a:rPr lang="en-US" sz="1050" b="1" i="0" dirty="0">
                <a:effectLst/>
                <a:latin typeface="system-ui"/>
              </a:rPr>
            </a:br>
            <a:br>
              <a:rPr lang="en-US" sz="1050" b="1" i="0" dirty="0">
                <a:effectLst/>
                <a:latin typeface="system-ui"/>
              </a:rPr>
            </a:br>
            <a:br>
              <a:rPr lang="en-US" sz="1050" b="1" i="0" dirty="0">
                <a:effectLst/>
                <a:latin typeface="system-ui"/>
              </a:rPr>
            </a:br>
            <a:br>
              <a:rPr lang="en-US" sz="1050" b="1" i="0" dirty="0">
                <a:effectLst/>
                <a:latin typeface="system-ui"/>
              </a:rPr>
            </a:br>
            <a:br>
              <a:rPr lang="en-US" sz="1050" b="1" i="0" dirty="0">
                <a:effectLst/>
                <a:latin typeface="system-ui"/>
              </a:rPr>
            </a:br>
            <a:br>
              <a:rPr lang="en-US" sz="1050" b="1" i="0" dirty="0">
                <a:effectLst/>
                <a:latin typeface="system-ui"/>
              </a:rPr>
            </a:br>
            <a:br>
              <a:rPr lang="en-US" sz="1050" b="1" i="0" dirty="0">
                <a:effectLst/>
                <a:latin typeface="system-ui"/>
              </a:rPr>
            </a:br>
            <a:br>
              <a:rPr lang="en-US" sz="1050" b="1" i="0" dirty="0">
                <a:effectLst/>
                <a:latin typeface="system-ui"/>
              </a:rPr>
            </a:br>
            <a:br>
              <a:rPr lang="en-US" sz="1050" b="1" i="0" dirty="0">
                <a:effectLst/>
                <a:latin typeface="system-ui"/>
              </a:rPr>
            </a:br>
            <a:br>
              <a:rPr lang="en-US" sz="1050" b="1" i="0" dirty="0">
                <a:effectLst/>
                <a:latin typeface="system-ui"/>
              </a:rPr>
            </a:br>
            <a:br>
              <a:rPr lang="en-US" sz="1050" b="1" i="0" dirty="0">
                <a:effectLst/>
                <a:latin typeface="system-ui"/>
              </a:rPr>
            </a:br>
            <a:br>
              <a:rPr lang="en-US" sz="1050" b="1" i="0" dirty="0">
                <a:effectLst/>
                <a:latin typeface="system-ui"/>
              </a:rPr>
            </a:br>
            <a:br>
              <a:rPr lang="en-US" sz="1050" b="1" i="0" dirty="0">
                <a:effectLst/>
                <a:latin typeface="system-ui"/>
              </a:rPr>
            </a:br>
            <a:br>
              <a:rPr lang="en-US" sz="1050" b="1" i="0" dirty="0">
                <a:effectLst/>
                <a:latin typeface="system-ui"/>
              </a:rPr>
            </a:br>
            <a:br>
              <a:rPr lang="en-US" sz="1050" b="1" i="0" dirty="0">
                <a:effectLst/>
                <a:latin typeface="system-ui"/>
              </a:rPr>
            </a:br>
            <a:br>
              <a:rPr lang="en-US" sz="1050" b="1" i="0">
                <a:effectLst/>
                <a:latin typeface="system-ui"/>
              </a:rPr>
            </a:br>
            <a:r>
              <a:rPr lang="en-US" sz="1050" b="1" i="0">
                <a:effectLst/>
                <a:latin typeface="system-ui"/>
              </a:rPr>
              <a:t>                         </a:t>
            </a:r>
            <a:r>
              <a:rPr lang="en-US" sz="7000" b="1">
                <a:solidFill>
                  <a:srgbClr val="FFC000"/>
                </a:solidFill>
              </a:rPr>
              <a:t>Thanks </a:t>
            </a:r>
            <a:r>
              <a:rPr lang="en-US" sz="7000" b="1" dirty="0">
                <a:solidFill>
                  <a:srgbClr val="FFC000"/>
                </a:solidFill>
              </a:rPr>
              <a:t>for watching….</a:t>
            </a:r>
            <a:br>
              <a:rPr lang="en-US" sz="4500" b="1" dirty="0">
                <a:solidFill>
                  <a:srgbClr val="FFC000"/>
                </a:solidFill>
              </a:rPr>
            </a:br>
            <a:br>
              <a:rPr lang="en-US" sz="2400" b="1" dirty="0">
                <a:solidFill>
                  <a:srgbClr val="FFC000"/>
                </a:solidFill>
              </a:rPr>
            </a:br>
            <a:br>
              <a:rPr lang="en-IN" sz="2400" b="1" i="0" dirty="0">
                <a:effectLst/>
                <a:latin typeface="system-ui"/>
              </a:rPr>
            </a:br>
            <a:br>
              <a:rPr lang="en-IN" sz="5400" b="1" dirty="0">
                <a:solidFill>
                  <a:schemeClr val="accent2"/>
                </a:solidFill>
              </a:rPr>
            </a:br>
            <a:br>
              <a:rPr lang="en-IN" sz="5400" b="1" dirty="0">
                <a:solidFill>
                  <a:schemeClr val="accent2"/>
                </a:solidFill>
              </a:rPr>
            </a:br>
            <a:br>
              <a:rPr lang="en-IN" sz="5400" b="1" dirty="0">
                <a:solidFill>
                  <a:schemeClr val="accent2"/>
                </a:solidFill>
              </a:rPr>
            </a:br>
            <a:br>
              <a:rPr lang="en-IN" sz="5400" b="1" dirty="0">
                <a:solidFill>
                  <a:schemeClr val="accent2"/>
                </a:solidFill>
              </a:rPr>
            </a:br>
            <a:br>
              <a:rPr lang="en-IN" sz="5400" b="1" dirty="0">
                <a:solidFill>
                  <a:schemeClr val="accent2"/>
                </a:solidFill>
              </a:rPr>
            </a:br>
            <a:br>
              <a:rPr lang="en-IN" sz="5400" b="1" dirty="0">
                <a:solidFill>
                  <a:schemeClr val="accent2"/>
                </a:solidFill>
              </a:rPr>
            </a:br>
            <a:br>
              <a:rPr lang="en-IN" sz="5400" b="1" dirty="0">
                <a:solidFill>
                  <a:schemeClr val="accent2"/>
                </a:solidFill>
              </a:rPr>
            </a:br>
            <a:r>
              <a:rPr lang="en-IN" sz="5400" b="1" dirty="0">
                <a:solidFill>
                  <a:schemeClr val="accent2"/>
                </a:solidFill>
              </a:rPr>
              <a:t>			</a:t>
            </a:r>
            <a:endParaRPr lang="en-IN" sz="5000" dirty="0"/>
          </a:p>
        </p:txBody>
      </p:sp>
    </p:spTree>
    <p:extLst>
      <p:ext uri="{BB962C8B-B14F-4D97-AF65-F5344CB8AC3E}">
        <p14:creationId xmlns:p14="http://schemas.microsoft.com/office/powerpoint/2010/main" val="241221490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113</TotalTime>
  <Words>1760</Words>
  <Application>Microsoft Office PowerPoint</Application>
  <PresentationFormat>Widescreen</PresentationFormat>
  <Paragraphs>145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Century Gothic</vt:lpstr>
      <vt:lpstr>system-ui</vt:lpstr>
      <vt:lpstr>Wingdings 3</vt:lpstr>
      <vt:lpstr>Ion</vt:lpstr>
      <vt:lpstr>Exploratory Data Analysis (EDA) for Real Estate Pricing: Unveiling the Dynamics of House Valuation in a Dynamic Market</vt:lpstr>
      <vt:lpstr>        Index</vt:lpstr>
      <vt:lpstr>     1) Loading the Data:  </vt:lpstr>
      <vt:lpstr>     2. Cleaning the Data:  </vt:lpstr>
      <vt:lpstr>     3. Univariate Analysis:  </vt:lpstr>
      <vt:lpstr>     3. Univariate Analysis:         Box plot             Hist plot</vt:lpstr>
      <vt:lpstr>     4. Multivariate Analysis:          </vt:lpstr>
      <vt:lpstr>     5. Feature Engineering:           </vt:lpstr>
      <vt:lpstr> 6. Feature Engineering and Size Impact:            </vt:lpstr>
      <vt:lpstr> 7. Market Trends and Historical Pricing:            </vt:lpstr>
      <vt:lpstr> 7. Market Trends and Historical Pricing:            </vt:lpstr>
      <vt:lpstr> 8. Customer Preferences and Amenities:             </vt:lpstr>
      <vt:lpstr> 8. Customer Preferences and Amenities:             </vt:lpstr>
      <vt:lpstr>                                          Thanks for watching….           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HP</dc:creator>
  <cp:lastModifiedBy>HP</cp:lastModifiedBy>
  <cp:revision>11</cp:revision>
  <dcterms:created xsi:type="dcterms:W3CDTF">2025-02-11T15:41:33Z</dcterms:created>
  <dcterms:modified xsi:type="dcterms:W3CDTF">2025-02-11T17:34:58Z</dcterms:modified>
</cp:coreProperties>
</file>